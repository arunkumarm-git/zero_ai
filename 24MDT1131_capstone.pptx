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14" r:id="rId2"/>
    <p:sldId id="289" r:id="rId3"/>
    <p:sldId id="309" r:id="rId4"/>
    <p:sldId id="290" r:id="rId5"/>
    <p:sldId id="320" r:id="rId6"/>
    <p:sldId id="292" r:id="rId7"/>
    <p:sldId id="324" r:id="rId8"/>
    <p:sldId id="316" r:id="rId9"/>
    <p:sldId id="326" r:id="rId10"/>
    <p:sldId id="327" r:id="rId11"/>
    <p:sldId id="334" r:id="rId12"/>
    <p:sldId id="329" r:id="rId13"/>
    <p:sldId id="331" r:id="rId14"/>
    <p:sldId id="332" r:id="rId15"/>
    <p:sldId id="301" r:id="rId16"/>
    <p:sldId id="33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D2D8"/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621" autoAdjust="0"/>
  </p:normalViewPr>
  <p:slideViewPr>
    <p:cSldViewPr snapToGrid="0">
      <p:cViewPr varScale="1">
        <p:scale>
          <a:sx n="78" d="100"/>
          <a:sy n="78" d="100"/>
        </p:scale>
        <p:origin x="8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CBE19F-97DC-46D0-B224-F6F2679EB14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A2F963-B4BA-488F-8411-259CE93A8DA7}">
      <dgm:prSet/>
      <dgm:spPr/>
      <dgm:t>
        <a:bodyPr/>
        <a:lstStyle/>
        <a:p>
          <a:r>
            <a:rPr lang="en-US" b="0" dirty="0"/>
            <a:t>96.6% Accuracy and a 0.992 AUC demonstrate highly effective separation of synthetic and real images.</a:t>
          </a:r>
        </a:p>
      </dgm:t>
    </dgm:pt>
    <dgm:pt modelId="{21D1A987-44A6-4407-8EAF-FF438004EDE9}" type="parTrans" cxnId="{3A820A64-90C8-4515-B6AA-FCB746A5F176}">
      <dgm:prSet/>
      <dgm:spPr/>
      <dgm:t>
        <a:bodyPr/>
        <a:lstStyle/>
        <a:p>
          <a:endParaRPr lang="en-US"/>
        </a:p>
      </dgm:t>
    </dgm:pt>
    <dgm:pt modelId="{05EA3479-A57A-49A6-9131-0CAE73C90D8B}" type="sibTrans" cxnId="{3A820A64-90C8-4515-B6AA-FCB746A5F176}">
      <dgm:prSet/>
      <dgm:spPr/>
      <dgm:t>
        <a:bodyPr/>
        <a:lstStyle/>
        <a:p>
          <a:endParaRPr lang="en-US"/>
        </a:p>
      </dgm:t>
    </dgm:pt>
    <dgm:pt modelId="{A1808434-CEA9-45CF-8E35-49E832FC96B9}">
      <dgm:prSet/>
      <dgm:spPr/>
      <dgm:t>
        <a:bodyPr/>
        <a:lstStyle/>
        <a:p>
          <a:r>
            <a:rPr lang="en-US" b="0" dirty="0"/>
            <a:t>With only 31 False Positives, the model is appropriately conservative, when it flags an image as AI-generated, it is highly trustworthy.</a:t>
          </a:r>
        </a:p>
      </dgm:t>
    </dgm:pt>
    <dgm:pt modelId="{6B0604CC-9B56-4E64-8660-5FB6CAC876A2}" type="parTrans" cxnId="{C592D881-B0D8-4ECD-A7D1-09D156399278}">
      <dgm:prSet/>
      <dgm:spPr/>
      <dgm:t>
        <a:bodyPr/>
        <a:lstStyle/>
        <a:p>
          <a:endParaRPr lang="en-US"/>
        </a:p>
      </dgm:t>
    </dgm:pt>
    <dgm:pt modelId="{CBA0BD61-A9D0-4CE4-800F-96314C51F8CC}" type="sibTrans" cxnId="{C592D881-B0D8-4ECD-A7D1-09D156399278}">
      <dgm:prSet/>
      <dgm:spPr/>
      <dgm:t>
        <a:bodyPr/>
        <a:lstStyle/>
        <a:p>
          <a:endParaRPr lang="en-US"/>
        </a:p>
      </dgm:t>
    </dgm:pt>
    <dgm:pt modelId="{4942E610-7D48-4764-AD4C-947F88BCEC3C}">
      <dgm:prSet/>
      <dgm:spPr/>
      <dgm:t>
        <a:bodyPr/>
        <a:lstStyle/>
        <a:p>
          <a:r>
            <a:rPr lang="en-US" b="0" dirty="0"/>
            <a:t>A 97% F1-Score reflects a well-tuned AI image and real image classifier.</a:t>
          </a:r>
        </a:p>
      </dgm:t>
    </dgm:pt>
    <dgm:pt modelId="{DC4883CA-F0DC-4548-889D-A0B9210DCF36}" type="parTrans" cxnId="{C1AFF783-1942-4472-A964-64FE3A2317B0}">
      <dgm:prSet/>
      <dgm:spPr/>
      <dgm:t>
        <a:bodyPr/>
        <a:lstStyle/>
        <a:p>
          <a:endParaRPr lang="en-US"/>
        </a:p>
      </dgm:t>
    </dgm:pt>
    <dgm:pt modelId="{C790F32C-FE60-4542-9940-C34D430081B7}" type="sibTrans" cxnId="{C1AFF783-1942-4472-A964-64FE3A2317B0}">
      <dgm:prSet/>
      <dgm:spPr/>
      <dgm:t>
        <a:bodyPr/>
        <a:lstStyle/>
        <a:p>
          <a:endParaRPr lang="en-US"/>
        </a:p>
      </dgm:t>
    </dgm:pt>
    <dgm:pt modelId="{E76B75F1-201C-493F-BE76-FB0FFA1CEB35}" type="pres">
      <dgm:prSet presAssocID="{E5CBE19F-97DC-46D0-B224-F6F2679EB143}" presName="linear" presStyleCnt="0">
        <dgm:presLayoutVars>
          <dgm:animLvl val="lvl"/>
          <dgm:resizeHandles val="exact"/>
        </dgm:presLayoutVars>
      </dgm:prSet>
      <dgm:spPr/>
    </dgm:pt>
    <dgm:pt modelId="{93EDA040-B3EE-4986-B364-549EABF5D57B}" type="pres">
      <dgm:prSet presAssocID="{22A2F963-B4BA-488F-8411-259CE93A8DA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484DF9E-3419-43EC-B850-E11A8F89EBF2}" type="pres">
      <dgm:prSet presAssocID="{05EA3479-A57A-49A6-9131-0CAE73C90D8B}" presName="spacer" presStyleCnt="0"/>
      <dgm:spPr/>
    </dgm:pt>
    <dgm:pt modelId="{26C5505D-9C1E-461F-ABE6-60E2F3BFDB53}" type="pres">
      <dgm:prSet presAssocID="{A1808434-CEA9-45CF-8E35-49E832FC96B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F06EC14-8351-462C-9340-FCA5C034E9A3}" type="pres">
      <dgm:prSet presAssocID="{CBA0BD61-A9D0-4CE4-800F-96314C51F8CC}" presName="spacer" presStyleCnt="0"/>
      <dgm:spPr/>
    </dgm:pt>
    <dgm:pt modelId="{F2E70BF3-4D36-4B4A-8479-51CD352C2342}" type="pres">
      <dgm:prSet presAssocID="{4942E610-7D48-4764-AD4C-947F88BCEC3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FBC9502-EBD8-4DC3-BB25-AA94065230D5}" type="presOf" srcId="{22A2F963-B4BA-488F-8411-259CE93A8DA7}" destId="{93EDA040-B3EE-4986-B364-549EABF5D57B}" srcOrd="0" destOrd="0" presId="urn:microsoft.com/office/officeart/2005/8/layout/vList2"/>
    <dgm:cxn modelId="{624A2F3E-962D-42EC-B252-4999622F4867}" type="presOf" srcId="{E5CBE19F-97DC-46D0-B224-F6F2679EB143}" destId="{E76B75F1-201C-493F-BE76-FB0FFA1CEB35}" srcOrd="0" destOrd="0" presId="urn:microsoft.com/office/officeart/2005/8/layout/vList2"/>
    <dgm:cxn modelId="{3A820A64-90C8-4515-B6AA-FCB746A5F176}" srcId="{E5CBE19F-97DC-46D0-B224-F6F2679EB143}" destId="{22A2F963-B4BA-488F-8411-259CE93A8DA7}" srcOrd="0" destOrd="0" parTransId="{21D1A987-44A6-4407-8EAF-FF438004EDE9}" sibTransId="{05EA3479-A57A-49A6-9131-0CAE73C90D8B}"/>
    <dgm:cxn modelId="{523B7855-FEA6-4FA4-84A0-D59AF326F49B}" type="presOf" srcId="{A1808434-CEA9-45CF-8E35-49E832FC96B9}" destId="{26C5505D-9C1E-461F-ABE6-60E2F3BFDB53}" srcOrd="0" destOrd="0" presId="urn:microsoft.com/office/officeart/2005/8/layout/vList2"/>
    <dgm:cxn modelId="{C592D881-B0D8-4ECD-A7D1-09D156399278}" srcId="{E5CBE19F-97DC-46D0-B224-F6F2679EB143}" destId="{A1808434-CEA9-45CF-8E35-49E832FC96B9}" srcOrd="1" destOrd="0" parTransId="{6B0604CC-9B56-4E64-8660-5FB6CAC876A2}" sibTransId="{CBA0BD61-A9D0-4CE4-800F-96314C51F8CC}"/>
    <dgm:cxn modelId="{C1AFF783-1942-4472-A964-64FE3A2317B0}" srcId="{E5CBE19F-97DC-46D0-B224-F6F2679EB143}" destId="{4942E610-7D48-4764-AD4C-947F88BCEC3C}" srcOrd="2" destOrd="0" parTransId="{DC4883CA-F0DC-4548-889D-A0B9210DCF36}" sibTransId="{C790F32C-FE60-4542-9940-C34D430081B7}"/>
    <dgm:cxn modelId="{1266A5E9-B0EE-482C-9C29-EB1D8E1918B6}" type="presOf" srcId="{4942E610-7D48-4764-AD4C-947F88BCEC3C}" destId="{F2E70BF3-4D36-4B4A-8479-51CD352C2342}" srcOrd="0" destOrd="0" presId="urn:microsoft.com/office/officeart/2005/8/layout/vList2"/>
    <dgm:cxn modelId="{FD03A066-F4A0-4388-8ABB-87C2C0D78C10}" type="presParOf" srcId="{E76B75F1-201C-493F-BE76-FB0FFA1CEB35}" destId="{93EDA040-B3EE-4986-B364-549EABF5D57B}" srcOrd="0" destOrd="0" presId="urn:microsoft.com/office/officeart/2005/8/layout/vList2"/>
    <dgm:cxn modelId="{FCEE5B68-258A-4CC6-8F8F-6F3733C97D29}" type="presParOf" srcId="{E76B75F1-201C-493F-BE76-FB0FFA1CEB35}" destId="{3484DF9E-3419-43EC-B850-E11A8F89EBF2}" srcOrd="1" destOrd="0" presId="urn:microsoft.com/office/officeart/2005/8/layout/vList2"/>
    <dgm:cxn modelId="{14076B25-A254-41A3-BF01-2A8BCD583D89}" type="presParOf" srcId="{E76B75F1-201C-493F-BE76-FB0FFA1CEB35}" destId="{26C5505D-9C1E-461F-ABE6-60E2F3BFDB53}" srcOrd="2" destOrd="0" presId="urn:microsoft.com/office/officeart/2005/8/layout/vList2"/>
    <dgm:cxn modelId="{9A1DF121-5275-4F9B-887E-F0426612321A}" type="presParOf" srcId="{E76B75F1-201C-493F-BE76-FB0FFA1CEB35}" destId="{7F06EC14-8351-462C-9340-FCA5C034E9A3}" srcOrd="3" destOrd="0" presId="urn:microsoft.com/office/officeart/2005/8/layout/vList2"/>
    <dgm:cxn modelId="{7177D6EF-3088-4B2D-A6FF-3A405864FC6A}" type="presParOf" srcId="{E76B75F1-201C-493F-BE76-FB0FFA1CEB35}" destId="{F2E70BF3-4D36-4B4A-8479-51CD352C234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DA040-B3EE-4986-B364-549EABF5D57B}">
      <dsp:nvSpPr>
        <dsp:cNvPr id="0" name=""/>
        <dsp:cNvSpPr/>
      </dsp:nvSpPr>
      <dsp:spPr>
        <a:xfrm>
          <a:off x="0" y="43452"/>
          <a:ext cx="11106148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96.6% Accuracy and a 0.992 AUC demonstrate highly effective separation of synthetic and real images.</a:t>
          </a:r>
        </a:p>
      </dsp:txBody>
      <dsp:txXfrm>
        <a:off x="31185" y="74637"/>
        <a:ext cx="11043778" cy="576450"/>
      </dsp:txXfrm>
    </dsp:sp>
    <dsp:sp modelId="{26C5505D-9C1E-461F-ABE6-60E2F3BFDB53}">
      <dsp:nvSpPr>
        <dsp:cNvPr id="0" name=""/>
        <dsp:cNvSpPr/>
      </dsp:nvSpPr>
      <dsp:spPr>
        <a:xfrm>
          <a:off x="0" y="728352"/>
          <a:ext cx="11106148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With only 31 False Positives, the model is appropriately conservative, when it flags an image as AI-generated, it is highly trustworthy.</a:t>
          </a:r>
        </a:p>
      </dsp:txBody>
      <dsp:txXfrm>
        <a:off x="31185" y="759537"/>
        <a:ext cx="11043778" cy="576450"/>
      </dsp:txXfrm>
    </dsp:sp>
    <dsp:sp modelId="{F2E70BF3-4D36-4B4A-8479-51CD352C2342}">
      <dsp:nvSpPr>
        <dsp:cNvPr id="0" name=""/>
        <dsp:cNvSpPr/>
      </dsp:nvSpPr>
      <dsp:spPr>
        <a:xfrm>
          <a:off x="0" y="1413252"/>
          <a:ext cx="11106148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A 97% F1-Score reflects a well-tuned AI image and real image classifier.</a:t>
          </a:r>
        </a:p>
      </dsp:txBody>
      <dsp:txXfrm>
        <a:off x="31185" y="1444437"/>
        <a:ext cx="11043778" cy="576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E1A5C-63CC-4B81-BC5D-FCD3C53DA66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B6753-B90E-47C5-BDE1-B2E5BDD65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744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3E3E-A18C-10B6-6EE5-0C7FD81C7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A9D28-4873-A26B-31B3-04BAE775A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56BF4-C52B-FEB4-CF9B-57F3C1F1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9B49-58A5-4779-BD08-7737DC1A7437}" type="datetime1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122B1-E1C0-544F-302F-B24157A5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C6995-E4F1-94AE-1B58-940FBE8D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994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15753-1A66-37CE-E172-80FB9E61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F1414-BD74-0676-4974-B008F7B36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F4C93-18F0-24E4-3E95-57A3BB7D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B7DC-4859-4061-AEBB-2F763E80141A}" type="datetime1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50CC6-B4BD-92AC-5C30-75FFA0A4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B1EAB-3948-73E9-1557-D9382BFE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69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A4E86-51B4-8C62-EA2A-D5D2DDFC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AB871-5755-A293-444E-3129044B5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05768-265C-0F89-351D-CEE4399C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BB83-A0BD-4B3A-9CD8-E50C74748531}" type="datetime1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AA9EE-E83D-87EE-7B3F-F425B667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F9348-178E-4311-078C-1ADD0D15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428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8032-C9BB-5D43-A9AE-48B192118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C5C6F-87EA-30E2-1AA7-32D331935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80BC-E169-E345-857E-40B29064E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4871C-8B82-6709-A7C6-CD36A433F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BFCE-9323-499A-A54A-366EE2F139B1}" type="datetime1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34E55-BFAE-7B94-B52E-0A7F7DBF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F6DBA-3A53-25F6-C876-7D6FA971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255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C82E-0837-9CD3-CFAD-26DC1F34A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97DBA-AC9B-B5CC-A49D-ADC7D26ED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DDE27-0E08-7309-E5F1-EFE115F99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7DF55-036A-3DCF-DAE5-B32256B9E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2DFD6-7494-2669-3BB3-3E73E7FC96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BD284-B920-6ED6-5CEC-5097D46F6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68E0-51E5-4DCE-A315-94E223EF880C}" type="datetime1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4C1D9-E31E-1DF6-6571-E4980BC1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06FC2-21D3-A748-2BDB-CB154C74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04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7B58-9B39-E353-A516-1307966D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5CDD9-67AC-E056-6BC5-18BB2F2E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40AC-FFE0-4BCA-BA5F-56B7856644F3}" type="datetime1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D5FA3C-9936-7C9F-3722-F033EEA8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DB5ED-0AEA-105C-4238-DB79CC81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338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058D3-86EC-15B3-B6E5-84EDF413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EFBA-3C4F-4737-BA9D-1ACE9DCC00DC}" type="datetime1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8A7E8-886D-439B-CC9E-FA3971851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E7F18-C5D3-09A2-138D-B5E37DE6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30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240A-829E-7007-E126-58753406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2AC7A-2681-88D3-303B-58C5458DE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EA4E4-2D55-B948-D5C6-AA97D2C5D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71481-97B3-16E6-F7D1-608E1232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CBC0-11C0-4C33-8040-87A1B99FEFC4}" type="datetime1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E0748-9DAE-3FFC-3A4B-00A49CB0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0DEC1-D0FC-3E35-CDA3-84595DA8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70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B0243-8192-9635-81C9-E9B34C10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64614-C9F9-A3AD-CF6E-8FE9EF78C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BAE0B-599A-0ED1-9D0F-C7E39C776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0114E-D888-3763-96F5-5219CB76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517-6C9A-43A0-A8D4-CBFDEB5F3734}" type="datetime1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DA400-C1F5-60C2-C1C6-329443F5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19ECE-442F-06BC-E39F-AC83CFA23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06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BF10-D060-1224-5804-C072EA2E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9479-42A1-B15B-6337-06128E77D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DE328-C417-49E1-0357-2075709AA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6AE0-C3C4-4CC1-9FAC-35F423F23E67}" type="datetime1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5293E-82FA-B55C-E4D9-E3910BF6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1349B-FFB6-57DA-3E85-A67D779B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4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198B52-A661-02DC-F41C-7EAE62D9C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6F086-5371-F5A5-9172-AABFBAD80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4C7F5-B164-D012-163C-A386E24A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671-4BCA-485D-AE8E-8BDE9E44677B}" type="datetime1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F83A8-EC39-C63B-DD56-FB003D7B7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96B2-6EA7-0E32-9092-50BCD391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956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802FD-D537-6FEE-8331-C6BC8B01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81839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55538-07E8-C9DF-B659-C70CDDAF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373CE-23B6-5C17-D4E8-4F500F52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3058" y="6365165"/>
            <a:ext cx="2743200" cy="365125"/>
          </a:xfrm>
        </p:spPr>
        <p:txBody>
          <a:bodyPr/>
          <a:lstStyle/>
          <a:p>
            <a:fld id="{22D55722-B948-4507-9DE5-A823ACCED0A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09B0AB-FA02-8FA5-B489-F7CF0459D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784" y="0"/>
            <a:ext cx="785474" cy="81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70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FCD7FC-D58D-E2B8-ECF2-0C7840158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BBAD4-4BD9-E84B-6EB7-CEE952F6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B7FCD-4C4B-9F17-E478-E15030897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E7F4F-DA19-4FA8-AC12-627B597C8CD6}" type="datetime1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D59A7-EE38-B2C1-554B-03C0A45E8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19D47-C26F-4F63-AFA9-C6C385358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53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eb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and white logo&#10;&#10;Description automatically generated">
            <a:extLst>
              <a:ext uri="{FF2B5EF4-FFF2-40B4-BE49-F238E27FC236}">
                <a16:creationId xmlns:a16="http://schemas.microsoft.com/office/drawing/2014/main" id="{F4567714-80C2-EEBB-0832-8FEAD70F32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804" y="-1020764"/>
            <a:ext cx="5775799" cy="39917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80B774-B042-CE9F-3A92-77B16D21FAAC}"/>
              </a:ext>
            </a:extLst>
          </p:cNvPr>
          <p:cNvSpPr txBox="1"/>
          <p:nvPr/>
        </p:nvSpPr>
        <p:spPr>
          <a:xfrm>
            <a:off x="324464" y="1690418"/>
            <a:ext cx="118675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Filtration of synthetic images using a lightweight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SigLIP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Hybrid architecture</a:t>
            </a: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AE839C-226E-24E5-3381-9E05B3F6F89D}"/>
              </a:ext>
            </a:extLst>
          </p:cNvPr>
          <p:cNvSpPr txBox="1"/>
          <p:nvPr/>
        </p:nvSpPr>
        <p:spPr>
          <a:xfrm>
            <a:off x="4204334" y="3013857"/>
            <a:ext cx="3930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Arun Kumar M (24MDT1131)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284AC1-9412-0FC5-4C62-D94739B7BA97}"/>
              </a:ext>
            </a:extLst>
          </p:cNvPr>
          <p:cNvSpPr txBox="1"/>
          <p:nvPr/>
        </p:nvSpPr>
        <p:spPr>
          <a:xfrm>
            <a:off x="996696" y="3844144"/>
            <a:ext cx="9838943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/>
              <a:t>Under the guidance of </a:t>
            </a:r>
          </a:p>
          <a:p>
            <a:pPr algn="ctr"/>
            <a:r>
              <a:rPr lang="en-US" sz="3200" b="1" dirty="0"/>
              <a:t>Dr. Hannah Grace G</a:t>
            </a:r>
            <a:endParaRPr lang="en-IN" sz="3200" b="1" dirty="0"/>
          </a:p>
          <a:p>
            <a:pPr algn="ctr"/>
            <a:r>
              <a:rPr lang="en-IN" sz="3000" dirty="0"/>
              <a:t>Department of Mathematics</a:t>
            </a:r>
          </a:p>
          <a:p>
            <a:pPr algn="ctr"/>
            <a:r>
              <a:rPr lang="en-IN" sz="3000" dirty="0"/>
              <a:t>School of Advanced Sciences</a:t>
            </a:r>
          </a:p>
          <a:p>
            <a:pPr algn="ctr"/>
            <a:r>
              <a:rPr lang="en-IN" sz="3000" dirty="0"/>
              <a:t>Vellore Institute of Technology Chennai</a:t>
            </a:r>
          </a:p>
        </p:txBody>
      </p:sp>
    </p:spTree>
    <p:extLst>
      <p:ext uri="{BB962C8B-B14F-4D97-AF65-F5344CB8AC3E}">
        <p14:creationId xmlns:p14="http://schemas.microsoft.com/office/powerpoint/2010/main" val="109016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ines and dots connected representing a network">
            <a:extLst>
              <a:ext uri="{FF2B5EF4-FFF2-40B4-BE49-F238E27FC236}">
                <a16:creationId xmlns:a16="http://schemas.microsoft.com/office/drawing/2014/main" id="{77862625-DD47-8C42-B06B-06CBE58273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" y="9144"/>
            <a:ext cx="121913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342F39-AE3D-6FD0-E139-5C3C46FCB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12" y="-54596"/>
            <a:ext cx="9681839" cy="1057883"/>
          </a:xfrm>
        </p:spPr>
        <p:txBody>
          <a:bodyPr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8D869-3BF0-130C-1FC7-14A4EEB78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966EE-F561-8FC7-99BD-5F554655352E}"/>
              </a:ext>
            </a:extLst>
          </p:cNvPr>
          <p:cNvSpPr txBox="1"/>
          <p:nvPr/>
        </p:nvSpPr>
        <p:spPr>
          <a:xfrm>
            <a:off x="925831" y="820980"/>
            <a:ext cx="419862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Problem Statement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Aim and Objective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Literature Gap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FontTx/>
              <a:buAutoNum type="arabicPeriod"/>
            </a:pPr>
            <a:r>
              <a:rPr lang="en-US" sz="1600" dirty="0"/>
              <a:t>Literature Reviews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Workflow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Novelty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Model Overview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Algorithms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Result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Discussion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Conclusion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References</a:t>
            </a:r>
          </a:p>
          <a:p>
            <a:pPr marL="342900" indent="-342900">
              <a:buAutoNum type="arabicPeriod"/>
            </a:pPr>
            <a:endParaRPr lang="en-US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851D5C-EFF6-53C5-4D30-8B6358D9B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9144" y="6572091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33904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6B1C-22E4-8264-64D7-D02C84691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2D11A-6791-9509-4D66-AE1B500E0F28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The rapid advancement of AI image generators has made it exceedingly difficult to reliably distinguish between real and synthetic images.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Existing single model classifiers such as standard CNNs and heavy Vision-Language Models are experience significant drops in accuracy when processing complex, real-world images, text overlays, and diverse artistic styles.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The industry currently relies on ensemble models to compensate for these accuracy drops, these multi-model systems are computationally expensive, highly resource-intensive, and fundamentally too slow for real-time deployment.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065B5E-5DCD-AEE9-B3AB-376F1BB6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2D55722-B948-4507-9DE5-A823ACCED0A6}" type="slidenum">
              <a:rPr lang="en-IN" smtClean="0"/>
              <a:pPr>
                <a:spcAft>
                  <a:spcPts val="600"/>
                </a:spcAft>
              </a:pPr>
              <a:t>3</a:t>
            </a:fld>
            <a:endParaRPr lang="en-IN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7C4422A-2D03-2F69-4542-E5E24335B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/>
              <a:t>VIT CHENNAI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540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lose-up of dartboard">
            <a:extLst>
              <a:ext uri="{FF2B5EF4-FFF2-40B4-BE49-F238E27FC236}">
                <a16:creationId xmlns:a16="http://schemas.microsoft.com/office/drawing/2014/main" id="{98786054-653D-B7E7-D190-2730D12C683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27"/>
            <a:ext cx="13198140" cy="72857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8D8EEA-41FE-F515-D58E-BE506C16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and Objective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0D527-638C-7868-8468-A99C0567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E0F34-4803-7A82-772F-48A50988F6E8}"/>
              </a:ext>
            </a:extLst>
          </p:cNvPr>
          <p:cNvSpPr txBox="1"/>
          <p:nvPr/>
        </p:nvSpPr>
        <p:spPr>
          <a:xfrm>
            <a:off x="915616" y="1492088"/>
            <a:ext cx="1043818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Build a single pass AI image detector that is as accurate as heavy ensemble models but faster and lighter.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Replace its default head with a custom classifier a 3-layer attention-based network designed to spot AI artifacts.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Isolate the spatial feature extraction capabilities of the </a:t>
            </a:r>
            <a:r>
              <a:rPr lang="en-US" sz="2000" dirty="0" err="1"/>
              <a:t>SigLIP</a:t>
            </a:r>
            <a:r>
              <a:rPr lang="en-US" sz="2000" dirty="0"/>
              <a:t> 2 model by intentionally removing its text-processing components, thereby drastically reducing memory footprint and inference time.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Resize </a:t>
            </a:r>
            <a:r>
              <a:rPr lang="en-US" sz="2000" dirty="0" err="1"/>
              <a:t>SigLIP</a:t>
            </a:r>
            <a:r>
              <a:rPr lang="en-US" sz="2000" dirty="0"/>
              <a:t> 2's position embeddings from 224×224 to 512×512 using bicubic interpolation to capture fine-grained forensic details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Develop a architecture that combines deep visual embeddings with explicit traditional forensic signals for a robust, single-pass prediction.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D047C-AC50-4F63-0E6A-46E1EAC6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1522493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4FB4E-DF69-2C47-6152-46B440B1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lose-up of dartboard">
            <a:extLst>
              <a:ext uri="{FF2B5EF4-FFF2-40B4-BE49-F238E27FC236}">
                <a16:creationId xmlns:a16="http://schemas.microsoft.com/office/drawing/2014/main" id="{490CFD2B-1FA4-0168-DD9C-A6AC83B0CA1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861"/>
            <a:ext cx="13198140" cy="72857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EC230F-4C61-D0EB-C826-28128EB4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Gap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C1016-437F-DB92-A32E-9A9B8949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C26E-93D7-005B-1067-8887A9129F3C}"/>
              </a:ext>
            </a:extLst>
          </p:cNvPr>
          <p:cNvSpPr txBox="1"/>
          <p:nvPr/>
        </p:nvSpPr>
        <p:spPr>
          <a:xfrm>
            <a:off x="915616" y="1492088"/>
            <a:ext cx="1043818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Currently most existing AI detectors rely on older CNNs and plain </a:t>
            </a:r>
            <a:r>
              <a:rPr lang="en-US" sz="2000" dirty="0" err="1"/>
              <a:t>ViTs</a:t>
            </a:r>
            <a:r>
              <a:rPr lang="en-US" sz="2000" dirty="0"/>
              <a:t>. No work has explored using vision encoders of VLM-pretrained models (like </a:t>
            </a:r>
            <a:r>
              <a:rPr lang="en-US" sz="2000" dirty="0" err="1"/>
              <a:t>SigLIP</a:t>
            </a:r>
            <a:r>
              <a:rPr lang="en-US" sz="2000" dirty="0"/>
              <a:t> 2), whose image-text training gives far richer visual representations.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Existing models are not rigorously tested on 'hard negatives’.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achieve state-of-the-art robustness, the industry currently resorts to computationally massive, high-latency ensembles and too slow for real-time web deployment.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There is a critical gap for streamlined, single-pass architectures that can match this robustness while operating efficiently enough for real-time web deployment.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1FA9BB-C0B0-DCF6-EA38-C0918E8C1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315497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6B96-7726-741A-E8F9-6E7089FE5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28" y="82625"/>
            <a:ext cx="9681839" cy="1325563"/>
          </a:xfrm>
        </p:spPr>
        <p:txBody>
          <a:bodyPr/>
          <a:lstStyle/>
          <a:p>
            <a:r>
              <a:rPr lang="en-US" dirty="0"/>
              <a:t>Literature Reviews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D0F32-ED65-E33A-4449-367AFFE5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E557D9-F0B4-25F4-CE51-325F9484E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166792"/>
              </p:ext>
            </p:extLst>
          </p:nvPr>
        </p:nvGraphicFramePr>
        <p:xfrm>
          <a:off x="566528" y="1371600"/>
          <a:ext cx="10993588" cy="4740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760">
                  <a:extLst>
                    <a:ext uri="{9D8B030D-6E8A-4147-A177-3AD203B41FA5}">
                      <a16:colId xmlns:a16="http://schemas.microsoft.com/office/drawing/2014/main" val="531022180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62034363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3735070113"/>
                    </a:ext>
                  </a:extLst>
                </a:gridCol>
                <a:gridCol w="1914247">
                  <a:extLst>
                    <a:ext uri="{9D8B030D-6E8A-4147-A177-3AD203B41FA5}">
                      <a16:colId xmlns:a16="http://schemas.microsoft.com/office/drawing/2014/main" val="1937056392"/>
                    </a:ext>
                  </a:extLst>
                </a:gridCol>
                <a:gridCol w="4305773">
                  <a:extLst>
                    <a:ext uri="{9D8B030D-6E8A-4147-A177-3AD203B41FA5}">
                      <a16:colId xmlns:a16="http://schemas.microsoft.com/office/drawing/2014/main" val="2355849253"/>
                    </a:ext>
                  </a:extLst>
                </a:gridCol>
              </a:tblGrid>
              <a:tr h="318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/>
                        <a:t>S.No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Author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Title / Journal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Dataset Used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Key Contribution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758694"/>
                  </a:ext>
                </a:extLst>
              </a:tr>
              <a:tr h="781391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Ziqiang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Jiazhen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Yan et al.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Artificial Intelligence Generated Image Detection a Solved Problem?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arXiv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2025) 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AIGIBench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(a benchmark comprising 23 diverse subsets of fake images, alongside real images sampled from FFHQ,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CelebA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-HQ, and Open Images V7).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Introduces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AIGIBench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evaluate the robustness and generalization of 11 advanced detectors </a:t>
                      </a: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across multi-source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generalization, image degradation, data augmentation, </a:t>
                      </a: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pre-processing,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revealing significant performance drops on real-world data and highlighting vulnerabilities to perturbations like JPEG compression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38551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Simiao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Ren, Yuchen Zhou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well are open sourced AI-generated image detection models out-of-the-box: A comprehensive benchmark study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arXiv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GenImage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AIGCDetectionBench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WildFake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OpenFake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Diffusion 1kstep,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SynthBuster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Presents the first comprehensive zero-shot evaluation of 16 state-of-the-art detection methods, demonstrating massive performance gaps, ranking instability, and the dominance of training data alignment over architecture.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58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it-IT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Alan Perotti, Marco Nurisso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et al.</a:t>
                      </a:r>
                      <a:endParaRPr lang="it-IT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Detector to Rule Them All</a:t>
                      </a:r>
                    </a:p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(ACM Multimedia 2025)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COCO, ImageNet,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celeba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dirty="0"/>
                        <a:t>Benchmarked open-source deepfake detectors, showing poor cross-model generalization, and demonstrated that ensemble methods with latent feature fusion achieve state-of-the-art robustness over single binary classifiers.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39511539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81767-D041-1661-5207-3A5777A7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263095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8FBB-597B-CA5B-D550-145AA857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A978D-C37A-51A1-E22E-B56EC041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81839" cy="728889"/>
          </a:xfrm>
        </p:spPr>
        <p:txBody>
          <a:bodyPr/>
          <a:lstStyle/>
          <a:p>
            <a:r>
              <a:rPr lang="en-US" dirty="0"/>
              <a:t>Literature Reviews </a:t>
            </a:r>
            <a:r>
              <a:rPr lang="en-IN" dirty="0"/>
              <a:t>(contd.)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442FF-2976-ACFF-3BF0-9AAD320F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49098D-7AD3-DBDA-19D6-764CD06C7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10091"/>
              </p:ext>
            </p:extLst>
          </p:nvPr>
        </p:nvGraphicFramePr>
        <p:xfrm>
          <a:off x="533871" y="1094014"/>
          <a:ext cx="10993588" cy="52561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6472">
                  <a:extLst>
                    <a:ext uri="{9D8B030D-6E8A-4147-A177-3AD203B41FA5}">
                      <a16:colId xmlns:a16="http://schemas.microsoft.com/office/drawing/2014/main" val="531022180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62034363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3735070113"/>
                    </a:ext>
                  </a:extLst>
                </a:gridCol>
                <a:gridCol w="1575919">
                  <a:extLst>
                    <a:ext uri="{9D8B030D-6E8A-4147-A177-3AD203B41FA5}">
                      <a16:colId xmlns:a16="http://schemas.microsoft.com/office/drawing/2014/main" val="1937056392"/>
                    </a:ext>
                  </a:extLst>
                </a:gridCol>
                <a:gridCol w="4305773">
                  <a:extLst>
                    <a:ext uri="{9D8B030D-6E8A-4147-A177-3AD203B41FA5}">
                      <a16:colId xmlns:a16="http://schemas.microsoft.com/office/drawing/2014/main" val="2355849253"/>
                    </a:ext>
                  </a:extLst>
                </a:gridCol>
              </a:tblGrid>
              <a:tr h="318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/>
                        <a:t>S.No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Author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Title / Journal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Dataset Used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Key Contribution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758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Bilva Chandra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Analyzing Harms from AI-Generated Images and Safeguarding Online Authenticity (RAND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LAION-5B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Outlines safety harms misinformation from AI image generators and evaluates industry solutions for content authenticity, proposing policy measures like NIST standards and FTC actions.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735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Michael Tschannen </a:t>
                      </a:r>
                    </a:p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SigLIP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2: Multilingual Vision-Language Encoders with Improved Semantic Understanding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arXiv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WebLI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Introduces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SigLIP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 with pairwise sigmoid loss and "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NaFlex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 resolution handling, providing the dense feature extraction necessary for visual forensics.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12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Huan Liu,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Zichang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Tan</a:t>
                      </a:r>
                    </a:p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 al.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Forgery-aware Adaptive Transformer for Generalizable Synthetic Image Detection (CVPR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ProGAN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Introduced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FatFormer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a novel forgery-aware adaptive transformer that builds on the pre-trained vision-language spaces of CLIP. It demonstrated strong robustness, achieving 98% average accuracy on unseen GANs and 95% on unseen diffusion models.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545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Harshit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Deepfake Detection using Efficientnet-B0 and GRU (IJERT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FaceForensics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Demonstrates a streamlined hybrid architecture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EfficientNet+GRU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for real-time detection, emphasizing computational efficiency for web deployment.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817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Geeta Rani, Atharv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Kothekar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Lightweight and hybrid transformer-based solution for quick and reliable deepfake detection (Frontiers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Celeb DF-v2,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iBUG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300-W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Proposes a hybrid architecture combining Vision Transformer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ViT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and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Linformer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models for deepfake video detection, which significantly reduces execution time and computational overhead while achieving a high detection accuracy of 98.9%.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87372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AFBAD-3C68-E204-5499-79465B38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2683625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E1888-E163-5880-B2DF-CCA8475E3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184" y="17513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Workflow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72FBB4-E050-D972-3E75-1BAABF4C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2D55722-B948-4507-9DE5-A823ACCED0A6}" type="slidenum">
              <a:rPr lang="en-IN" smtClean="0"/>
              <a:pPr>
                <a:spcAft>
                  <a:spcPts val="600"/>
                </a:spcAft>
              </a:pPr>
              <a:t>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F733B5-1376-EB0C-F451-0DCDEA1150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784" y="0"/>
            <a:ext cx="785474" cy="816077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A90D521-80AE-148D-16FE-23BED7FE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2099D6-78D0-8FE7-AA8B-F1ED17766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7" y="894736"/>
            <a:ext cx="9055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20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D2C29-095E-4110-C581-AD2696B59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65B0-98B8-CDB9-8743-93B61D91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4A6F9-E61A-D0B7-4200-F644B0E5A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874"/>
            <a:ext cx="10680032" cy="5017001"/>
          </a:xfrm>
        </p:spPr>
        <p:txBody>
          <a:bodyPr>
            <a:normAutofit/>
          </a:bodyPr>
          <a:lstStyle/>
          <a:p>
            <a:r>
              <a:rPr lang="en-US" sz="2400" dirty="0"/>
              <a:t>A custom 3-layer head using SE-style channel attention , first applied in this Classification task type</a:t>
            </a:r>
          </a:p>
          <a:p>
            <a:r>
              <a:rPr lang="en-US" sz="2400" dirty="0"/>
              <a:t>Position embeddings bicubically interpolated from 224 to 512 enabling the model to detect fine-grained artifacts invisible at low resolution.</a:t>
            </a:r>
          </a:p>
          <a:p>
            <a:r>
              <a:rPr lang="en-IN" sz="2400" dirty="0"/>
              <a:t>Explicitly computing </a:t>
            </a:r>
            <a:r>
              <a:rPr lang="en-US" sz="2400" dirty="0"/>
              <a:t>7 traditional frequency and statistical metrics to cover deep learning blind spots without relying on computationally expensive multi-pass inference.</a:t>
            </a:r>
          </a:p>
          <a:p>
            <a:r>
              <a:rPr lang="en-US" sz="2400" dirty="0"/>
              <a:t>A novel approach combining a deep spatial embedding from the vision backbone with an embedded representation of traditional forensic features.</a:t>
            </a:r>
          </a:p>
          <a:p>
            <a:endParaRPr lang="en-US" sz="2400" dirty="0"/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DA232-0478-4973-4C20-F1B30641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9</a:t>
            </a:fld>
            <a:endParaRPr lang="en-IN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E1B74D7-A611-60E7-580C-0172ABE8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343013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C31E-B00C-4A10-32D1-AB681BB4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FFD5-7EAD-4381-1E2A-AE77B45E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2E779-A035-C9BB-BD0C-102CB4124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874"/>
            <a:ext cx="10680032" cy="5017001"/>
          </a:xfrm>
        </p:spPr>
        <p:txBody>
          <a:bodyPr>
            <a:normAutofit/>
          </a:bodyPr>
          <a:lstStyle/>
          <a:p>
            <a:r>
              <a:rPr lang="en-US" sz="2400" dirty="0" err="1"/>
              <a:t>SigLIP</a:t>
            </a:r>
            <a:r>
              <a:rPr lang="en-US" sz="2400" dirty="0"/>
              <a:t> 2 Vision Encoder</a:t>
            </a:r>
            <a:r>
              <a:rPr lang="en-US" sz="2400" b="1" dirty="0"/>
              <a:t> </a:t>
            </a:r>
            <a:r>
              <a:rPr lang="en-US" sz="2400" dirty="0"/>
              <a:t>Text components removed, image encoder only. Embeddings bicubically interpolated from 224×224 to 512×512 for fine-grained detail capture.</a:t>
            </a:r>
          </a:p>
          <a:p>
            <a:r>
              <a:rPr lang="en-US" sz="2400" dirty="0"/>
              <a:t>3-layer attention network with SE-style channel attention, replacing the default head to focus on AI artifact patterns.</a:t>
            </a:r>
          </a:p>
          <a:p>
            <a:r>
              <a:rPr lang="en-US" sz="2400" dirty="0"/>
              <a:t>A dedicated module that computes 7 explicit statistical signals directly from the image pixels and frequency domain (LBP, DCT, Wavelet, FFT, Bayer Noise, Edge Sharpness, Gradient Co-occurrence).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294AD-256B-53D4-25D5-6EE809A8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10</a:t>
            </a:fld>
            <a:endParaRPr lang="en-IN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1F4CA1C-8C8C-70A0-5DDA-98516EB1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4252761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08412-66F9-7DA6-358A-A94F4A2F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IN" dirty="0"/>
              <a:t>Algorithms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32BD7CA-DB43-8603-0A8D-A66EA73ABC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5698336"/>
              </p:ext>
            </p:extLst>
          </p:nvPr>
        </p:nvGraphicFramePr>
        <p:xfrm>
          <a:off x="923925" y="1269000"/>
          <a:ext cx="9801225" cy="50375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3053">
                  <a:extLst>
                    <a:ext uri="{9D8B030D-6E8A-4147-A177-3AD203B41FA5}">
                      <a16:colId xmlns:a16="http://schemas.microsoft.com/office/drawing/2014/main" val="1283423044"/>
                    </a:ext>
                  </a:extLst>
                </a:gridCol>
                <a:gridCol w="3362672">
                  <a:extLst>
                    <a:ext uri="{9D8B030D-6E8A-4147-A177-3AD203B41FA5}">
                      <a16:colId xmlns:a16="http://schemas.microsoft.com/office/drawing/2014/main" val="250034136"/>
                    </a:ext>
                  </a:extLst>
                </a:gridCol>
                <a:gridCol w="5905500">
                  <a:extLst>
                    <a:ext uri="{9D8B030D-6E8A-4147-A177-3AD203B41FA5}">
                      <a16:colId xmlns:a16="http://schemas.microsoft.com/office/drawing/2014/main" val="3494141403"/>
                    </a:ext>
                  </a:extLst>
                </a:gridCol>
              </a:tblGrid>
              <a:tr h="2628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 err="1">
                          <a:effectLst/>
                        </a:rPr>
                        <a:t>S.No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Feature Name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Why It Helps Detection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2945948137"/>
                  </a:ext>
                </a:extLst>
              </a:tr>
              <a:tr h="8747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Binary Pattern (LBP)</a:t>
                      </a:r>
                      <a:endParaRPr lang="en-IN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AI images have unnaturally uniform or over-random texture patterns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2245800442"/>
                  </a:ext>
                </a:extLst>
              </a:tr>
              <a:tr h="46316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Discrete Cosine Transform (DCT)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AI images violate natural frequency distributions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2326216228"/>
                  </a:ext>
                </a:extLst>
              </a:tr>
              <a:tr h="6689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Gradient Co-occurrence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AI images often have smoother, less varied gradient transitions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107350527"/>
                  </a:ext>
                </a:extLst>
              </a:tr>
              <a:tr h="6689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Haar Wavelet Transform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AI images lack fine diagonal detail compared to real photographs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2847710005"/>
                  </a:ext>
                </a:extLst>
              </a:tr>
              <a:tr h="6689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 Fourier Transform (FFT)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AI images consistently show a slope near −2.5 in log-log frequency space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1889969317"/>
                  </a:ext>
                </a:extLst>
              </a:tr>
              <a:tr h="6689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Bayer Noise Pattern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Real cameras leave unique noise fingerprints absent in AI images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2629543235"/>
                  </a:ext>
                </a:extLst>
              </a:tr>
              <a:tr h="6689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7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Edge Sharpness Grid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AI images show unnatural centre-vs-peripheral sharpness ratios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111991210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5506E-814F-1C0F-9206-DF8D77120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178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000"/>
            <a:ext cx="10515600" cy="8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10" name="MetricsBox"/>
          <p:cNvSpPr txBox="1"/>
          <p:nvPr/>
        </p:nvSpPr>
        <p:spPr>
          <a:xfrm>
            <a:off x="5388234" y="999996"/>
            <a:ext cx="1522640" cy="3219575"/>
          </a:xfrm>
          <a:prstGeom prst="rect">
            <a:avLst/>
          </a:prstGeom>
          <a:solidFill>
            <a:srgbClr val="1E3A5F"/>
          </a:solidFill>
        </p:spPr>
        <p:txBody>
          <a:bodyPr vert="horz" lIns="182880" tIns="182880" rIns="182880" bIns="91440" rtlCol="0" anchor="t">
            <a:normAutofit fontScale="92500" lnSpcReduction="10000"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Key Metrics</a:t>
            </a:r>
          </a:p>
          <a:p>
            <a:endParaRPr lang="en-US" sz="1200" dirty="0"/>
          </a:p>
          <a:p>
            <a:r>
              <a:rPr lang="en-US" sz="2800" b="1" dirty="0">
                <a:solidFill>
                  <a:srgbClr val="4FC3F7"/>
                </a:solidFill>
              </a:rPr>
              <a:t>96.6%</a:t>
            </a:r>
          </a:p>
          <a:p>
            <a:r>
              <a:rPr lang="en-US" sz="1200" dirty="0">
                <a:solidFill>
                  <a:srgbClr val="B0BEC5"/>
                </a:solidFill>
              </a:rPr>
              <a:t>Accuracy</a:t>
            </a:r>
          </a:p>
          <a:p>
            <a:endParaRPr lang="en-US" sz="1200" dirty="0">
              <a:solidFill>
                <a:srgbClr val="B0BEC5"/>
              </a:solidFill>
            </a:endParaRPr>
          </a:p>
          <a:p>
            <a:r>
              <a:rPr 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95.3%</a:t>
            </a:r>
          </a:p>
          <a:p>
            <a:r>
              <a:rPr lang="en-US" sz="1200" dirty="0">
                <a:solidFill>
                  <a:srgbClr val="B0BEC5"/>
                </a:solidFill>
              </a:rPr>
              <a:t>Recall</a:t>
            </a:r>
          </a:p>
          <a:p>
            <a:endParaRPr lang="en-US" sz="1000" dirty="0"/>
          </a:p>
          <a:p>
            <a:r>
              <a:rPr lang="en-US" sz="2800" b="1" dirty="0">
                <a:solidFill>
                  <a:srgbClr val="81C784"/>
                </a:solidFill>
              </a:rPr>
              <a:t>98.9%</a:t>
            </a:r>
          </a:p>
          <a:p>
            <a:r>
              <a:rPr lang="en-US" sz="1200" dirty="0">
                <a:solidFill>
                  <a:srgbClr val="B0BEC5"/>
                </a:solidFill>
              </a:rPr>
              <a:t>Precision</a:t>
            </a:r>
          </a:p>
          <a:p>
            <a:endParaRPr lang="en-US" sz="1000" dirty="0"/>
          </a:p>
          <a:p>
            <a:r>
              <a:rPr lang="en-US" sz="2800" b="1" dirty="0">
                <a:solidFill>
                  <a:srgbClr val="FFD54F"/>
                </a:solidFill>
              </a:rPr>
              <a:t>97%</a:t>
            </a:r>
          </a:p>
          <a:p>
            <a:r>
              <a:rPr lang="en-US" sz="1200" dirty="0">
                <a:solidFill>
                  <a:srgbClr val="B0BEC5"/>
                </a:solidFill>
              </a:rPr>
              <a:t>F1-Score</a:t>
            </a:r>
          </a:p>
          <a:p>
            <a:endParaRPr lang="en-US" sz="1200" dirty="0">
              <a:solidFill>
                <a:srgbClr val="B0BEC5"/>
              </a:solidFill>
            </a:endParaRPr>
          </a:p>
          <a:p>
            <a:endParaRPr lang="en-US" sz="1200" dirty="0">
              <a:solidFill>
                <a:srgbClr val="B0BEC5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22D55722-B948-4507-9DE5-A823ACCED0A7}" type="slidenum">
              <a:rPr lang="en-IN" smtClean="0"/>
              <a:t>12</a:t>
            </a:fld>
            <a:endParaRPr lang="en-IN" dirty="0"/>
          </a:p>
        </p:txBody>
      </p:sp>
      <p:graphicFrame>
        <p:nvGraphicFramePr>
          <p:cNvPr id="33" name="Caption">
            <a:extLst>
              <a:ext uri="{FF2B5EF4-FFF2-40B4-BE49-F238E27FC236}">
                <a16:creationId xmlns:a16="http://schemas.microsoft.com/office/drawing/2014/main" id="{7FF36EEF-987A-F8EB-70FA-87D49A7F96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759162"/>
              </p:ext>
            </p:extLst>
          </p:nvPr>
        </p:nvGraphicFramePr>
        <p:xfrm>
          <a:off x="705236" y="4343399"/>
          <a:ext cx="11106149" cy="2095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8C416A9-2943-694D-EA4C-F0461BF0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AFE5AC-C4EE-329A-2BAC-7162610CE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236" y="999996"/>
            <a:ext cx="4427376" cy="3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02F53BF-5D10-C515-92D3-232342E9F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6496" y="999996"/>
            <a:ext cx="4049485" cy="3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000"/>
            <a:ext cx="10515600" cy="7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838200" y="745000"/>
            <a:ext cx="10515600" cy="3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600" i="1" dirty="0"/>
              <a:t>Same AI generated image tested across three detectors</a:t>
            </a:r>
          </a:p>
        </p:txBody>
      </p:sp>
      <p:sp>
        <p:nvSpPr>
          <p:cNvPr id="31" name="Label1"/>
          <p:cNvSpPr txBox="1"/>
          <p:nvPr/>
        </p:nvSpPr>
        <p:spPr>
          <a:xfrm>
            <a:off x="346001" y="4727975"/>
            <a:ext cx="3700000" cy="718231"/>
          </a:xfrm>
          <a:prstGeom prst="rect">
            <a:avLst/>
          </a:prstGeom>
          <a:solidFill>
            <a:srgbClr val="C62828"/>
          </a:solidFill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Undetectable AI: 98% REAL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Time Taken: 5230 </a:t>
            </a:r>
            <a:r>
              <a:rPr lang="en-US" sz="1600" b="1" dirty="0" err="1">
                <a:solidFill>
                  <a:srgbClr val="FFFFFF"/>
                </a:solidFill>
              </a:rPr>
              <a:t>ms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32" name="Label2"/>
          <p:cNvSpPr txBox="1"/>
          <p:nvPr/>
        </p:nvSpPr>
        <p:spPr>
          <a:xfrm>
            <a:off x="4225500" y="4727974"/>
            <a:ext cx="3725550" cy="718231"/>
          </a:xfrm>
          <a:prstGeom prst="rect">
            <a:avLst/>
          </a:prstGeom>
          <a:solidFill>
            <a:srgbClr val="2E7D32"/>
          </a:solidFill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Our Model: 100% AI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Time Taken</a:t>
            </a:r>
            <a:r>
              <a:rPr lang="en-US" sz="1600" b="1">
                <a:solidFill>
                  <a:srgbClr val="FFFFFF"/>
                </a:solidFill>
              </a:rPr>
              <a:t>: 142.4 </a:t>
            </a:r>
            <a:r>
              <a:rPr lang="en-US" sz="1600" b="1" dirty="0" err="1">
                <a:solidFill>
                  <a:srgbClr val="FFFFFF"/>
                </a:solidFill>
              </a:rPr>
              <a:t>ms</a:t>
            </a:r>
            <a:r>
              <a:rPr lang="en-US" sz="1600" b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3" name="Label3"/>
          <p:cNvSpPr txBox="1"/>
          <p:nvPr/>
        </p:nvSpPr>
        <p:spPr>
          <a:xfrm>
            <a:off x="8145999" y="4727972"/>
            <a:ext cx="3725551" cy="718233"/>
          </a:xfrm>
          <a:prstGeom prst="rect">
            <a:avLst/>
          </a:prstGeom>
          <a:solidFill>
            <a:srgbClr val="C62828"/>
          </a:solidFill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AI or Not: Likely Real 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Time Taken: 920 </a:t>
            </a:r>
            <a:r>
              <a:rPr lang="en-US" sz="1600" b="1" dirty="0" err="1">
                <a:solidFill>
                  <a:srgbClr val="FFFFFF"/>
                </a:solidFill>
              </a:rPr>
              <a:t>ms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40" name="Takeaway"/>
          <p:cNvSpPr txBox="1"/>
          <p:nvPr/>
        </p:nvSpPr>
        <p:spPr>
          <a:xfrm>
            <a:off x="325500" y="5598836"/>
            <a:ext cx="11525550" cy="757514"/>
          </a:xfrm>
          <a:prstGeom prst="rect">
            <a:avLst/>
          </a:prstGeom>
          <a:solidFill>
            <a:srgbClr val="1E3A5F"/>
          </a:solidFill>
        </p:spPr>
        <p:txBody>
          <a:bodyPr vert="horz" lIns="182880" tIns="91440" rIns="182880" bIns="91440" rtlCol="0" anchor="ctr">
            <a:normAutofit/>
          </a:bodyPr>
          <a:lstStyle/>
          <a:p>
            <a:r>
              <a:rPr lang="en-US" sz="1600" b="1" dirty="0">
                <a:solidFill>
                  <a:srgbClr val="FFD54F"/>
                </a:solidFill>
              </a:rPr>
              <a:t>Key Takeaway: </a:t>
            </a:r>
            <a:r>
              <a:rPr lang="en-US" sz="1600" dirty="0">
                <a:solidFill>
                  <a:srgbClr val="FFFFFF"/>
                </a:solidFill>
              </a:rPr>
              <a:t>Commercial tools like Undetectable AI and AI or Not misclassified this AI-generated image as real. Our model correctly identified it as AI-generated with 93.5% confidence with significantly less time.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22D55722-B948-4507-9DE5-A823ACCED0A8}" type="slidenum">
              <a:rPr lang="en-IN" smtClean="0"/>
              <a:t>13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DC8463-595A-75B8-E378-E3F96926F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1" y="1256289"/>
            <a:ext cx="3700000" cy="3319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C0137A-6E1E-32CB-916D-8F52FD0C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000" y="1256288"/>
            <a:ext cx="3725552" cy="3319053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A125A90-CF68-9AB6-F79A-26D5B6CA5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AD8E58-ED1E-7E0C-A4DB-D5030D2C9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500" y="1256288"/>
            <a:ext cx="3725550" cy="33315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E9B99B-6B3A-5BC7-5C03-3A5EB7C54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950" y="1290160"/>
            <a:ext cx="3700001" cy="33065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6B1C-22E4-8264-64D7-D02C84691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2D11A-6791-9509-4D66-AE1B500E0F28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Built a lightweight, single-pass AI image detector achieving 96.6% accuracy and a 0.992 AUC-ROC on a </a:t>
            </a:r>
            <a:r>
              <a:rPr lang="en-US" sz="2400"/>
              <a:t>test dataset.</a:t>
            </a:r>
            <a:endParaRPr lang="en-US" sz="2400" dirty="0"/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Achieved an exceptional 98.9% precision rate, establishing a highly conservative detection model that strictly minimizes false accusations of human-made content.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Deployed an interactive inference pipeline via Hugging Face Spaces, allowing for real-time testing and accessible demonstration.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Outperformed commercial tools (Undetectable AI, AI or Not) on hard-negative synthetic images, delivering superior accuracy and faster inference speeds in real-world testing.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065B5E-5DCD-AEE9-B3AB-376F1BB6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2D55722-B948-4507-9DE5-A823ACCED0A6}" type="slidenum">
              <a:rPr lang="en-IN" smtClean="0"/>
              <a:pPr>
                <a:spcAft>
                  <a:spcPts val="600"/>
                </a:spcAft>
              </a:pPr>
              <a:t>14</a:t>
            </a:fld>
            <a:endParaRPr lang="en-IN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19EA6B2-D71E-B246-B188-126F2763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2836501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86AA-9849-487C-9419-25C03016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2A998-AC55-6513-A5E2-8C750E71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VIT CHENNAI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B9726-219C-4DDA-A033-6696DA2D3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15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1F006-67C8-CE00-3E2A-5CEA705A2E15}"/>
              </a:ext>
            </a:extLst>
          </p:cNvPr>
          <p:cNvSpPr txBox="1"/>
          <p:nvPr/>
        </p:nvSpPr>
        <p:spPr>
          <a:xfrm>
            <a:off x="567179" y="1690688"/>
            <a:ext cx="110576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[1] </a:t>
            </a:r>
            <a:r>
              <a:rPr lang="en-IN" dirty="0" err="1">
                <a:solidFill>
                  <a:schemeClr val="dk1"/>
                </a:solidFill>
              </a:rPr>
              <a:t>Ziqiang</a:t>
            </a:r>
            <a:r>
              <a:rPr lang="en-IN" dirty="0">
                <a:solidFill>
                  <a:schemeClr val="dk1"/>
                </a:solidFill>
              </a:rPr>
              <a:t> Li, </a:t>
            </a:r>
            <a:r>
              <a:rPr lang="en-IN" dirty="0" err="1">
                <a:solidFill>
                  <a:schemeClr val="dk1"/>
                </a:solidFill>
              </a:rPr>
              <a:t>Jiazhen</a:t>
            </a:r>
            <a:r>
              <a:rPr lang="en-IN" dirty="0">
                <a:solidFill>
                  <a:schemeClr val="dk1"/>
                </a:solidFill>
              </a:rPr>
              <a:t> Yan et al.</a:t>
            </a:r>
            <a:r>
              <a:rPr lang="en-IN" dirty="0"/>
              <a:t>, "</a:t>
            </a:r>
            <a:r>
              <a:rPr lang="en-US" dirty="0">
                <a:solidFill>
                  <a:schemeClr val="dk1"/>
                </a:solidFill>
              </a:rPr>
              <a:t>Is Artificial Intelligence Generated Image Detection a Solved Problem?”, </a:t>
            </a:r>
            <a:r>
              <a:rPr lang="en-US" dirty="0" err="1">
                <a:solidFill>
                  <a:schemeClr val="dk1"/>
                </a:solidFill>
              </a:rPr>
              <a:t>arXiv</a:t>
            </a:r>
            <a:r>
              <a:rPr lang="en-US" dirty="0">
                <a:solidFill>
                  <a:schemeClr val="dk1"/>
                </a:solidFill>
              </a:rPr>
              <a:t>, 2025 </a:t>
            </a:r>
            <a:r>
              <a:rPr lang="en-IN" dirty="0"/>
              <a:t>. DOI: 10.48550/arXiv.2505.12335.</a:t>
            </a:r>
          </a:p>
          <a:p>
            <a:endParaRPr lang="en-IN" dirty="0"/>
          </a:p>
          <a:p>
            <a:r>
              <a:rPr lang="en-IN" dirty="0"/>
              <a:t>[2] </a:t>
            </a:r>
            <a:r>
              <a:rPr lang="en-US" dirty="0"/>
              <a:t>S. Ren, Y. Zhou, et al., "How well are open sourced AI-generated image detection models out-of-the-box: A comprehensive benchmark study," </a:t>
            </a:r>
            <a:r>
              <a:rPr lang="en-US" dirty="0" err="1">
                <a:solidFill>
                  <a:schemeClr val="dk1"/>
                </a:solidFill>
              </a:rPr>
              <a:t>arXiv</a:t>
            </a:r>
            <a:r>
              <a:rPr lang="en-US" dirty="0"/>
              <a:t>, 2026</a:t>
            </a:r>
            <a:r>
              <a:rPr lang="en-IN" dirty="0"/>
              <a:t> . DOI: 10.48550/arXiv.2602.07814.</a:t>
            </a:r>
          </a:p>
          <a:p>
            <a:endParaRPr lang="en-IN" dirty="0"/>
          </a:p>
          <a:p>
            <a:r>
              <a:rPr lang="en-IN" dirty="0"/>
              <a:t>[3] </a:t>
            </a:r>
            <a:r>
              <a:rPr lang="en-US" dirty="0"/>
              <a:t>A. Perotti, M. </a:t>
            </a:r>
            <a:r>
              <a:rPr lang="en-US" dirty="0" err="1"/>
              <a:t>Nurisso</a:t>
            </a:r>
            <a:r>
              <a:rPr lang="en-US" dirty="0"/>
              <a:t>, et al., "No Detector to Rule Them All," ACM Multimedia, 2025.</a:t>
            </a:r>
            <a:r>
              <a:rPr lang="en-IN" dirty="0"/>
              <a:t> DOI: 10.1145/3746265.3759659.</a:t>
            </a:r>
          </a:p>
          <a:p>
            <a:endParaRPr lang="en-IN" dirty="0"/>
          </a:p>
          <a:p>
            <a:r>
              <a:rPr lang="en-IN" dirty="0"/>
              <a:t>[4] </a:t>
            </a:r>
            <a:r>
              <a:rPr lang="en-US" dirty="0"/>
              <a:t>B. Chandra, "Analyzing Harms from AI-Generated Images and Safeguarding Online Authenticity," RAND, 2024. </a:t>
            </a:r>
            <a:r>
              <a:rPr lang="en-IN" dirty="0"/>
              <a:t>DOI: 10.7249/PEA3131-1.</a:t>
            </a:r>
          </a:p>
          <a:p>
            <a:endParaRPr lang="en-IN" dirty="0"/>
          </a:p>
          <a:p>
            <a:r>
              <a:rPr lang="en-IN" dirty="0"/>
              <a:t>[5] M. Tschannen et al., "</a:t>
            </a:r>
            <a:r>
              <a:rPr lang="en-IN" dirty="0" err="1"/>
              <a:t>SigLIP</a:t>
            </a:r>
            <a:r>
              <a:rPr lang="en-IN" dirty="0"/>
              <a:t> 2: Multilingual Vision-Language Encoders with Improved Semantic Understanding," </a:t>
            </a:r>
            <a:r>
              <a:rPr lang="en-IN" dirty="0" err="1"/>
              <a:t>arXiv</a:t>
            </a:r>
            <a:r>
              <a:rPr lang="en-IN" dirty="0"/>
              <a:t>, 2025. DOI: 10.48550/arXiv.2502.14786.</a:t>
            </a:r>
          </a:p>
        </p:txBody>
      </p:sp>
    </p:spTree>
    <p:extLst>
      <p:ext uri="{BB962C8B-B14F-4D97-AF65-F5344CB8AC3E}">
        <p14:creationId xmlns:p14="http://schemas.microsoft.com/office/powerpoint/2010/main" val="324033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B4550-8018-B432-2CDA-3FBDBB41B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77DB-43C6-FD65-42D1-D8C94BEB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(Contd.)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6CE224-A069-B27F-4FE5-DB4D2B17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VIT CHENNAI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63AE3-83D6-07D5-FC3A-CBDB66AAD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16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18AF1-ED4B-0D37-CEB6-27C1152E3409}"/>
              </a:ext>
            </a:extLst>
          </p:cNvPr>
          <p:cNvSpPr txBox="1"/>
          <p:nvPr/>
        </p:nvSpPr>
        <p:spPr>
          <a:xfrm>
            <a:off x="567179" y="1690688"/>
            <a:ext cx="110576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[6] </a:t>
            </a:r>
            <a:r>
              <a:rPr lang="en-US" dirty="0"/>
              <a:t>H. Liu, Z. Tan, et al., "Forgery-aware Adaptive Transformer for Generalizable Synthetic Image Detection," CVPR, 2024.</a:t>
            </a:r>
            <a:r>
              <a:rPr lang="en-IN" dirty="0"/>
              <a:t> DOI: 10.48550/arXiv.2312.16649.</a:t>
            </a:r>
          </a:p>
          <a:p>
            <a:endParaRPr lang="en-IN" dirty="0"/>
          </a:p>
          <a:p>
            <a:r>
              <a:rPr lang="en-IN" dirty="0"/>
              <a:t>[7] Harshit, Y.V.S Sarath, et al., "Deepfake Detection using Efficientnet-B0 and GRU," IJERT, 2025.  DOI: 10.5281/zenodo.18106890.</a:t>
            </a:r>
          </a:p>
          <a:p>
            <a:endParaRPr lang="en-IN" dirty="0"/>
          </a:p>
          <a:p>
            <a:r>
              <a:rPr lang="en-IN" dirty="0"/>
              <a:t>[8] </a:t>
            </a:r>
            <a:r>
              <a:rPr lang="en-US" dirty="0"/>
              <a:t>G. Rani, A. </a:t>
            </a:r>
            <a:r>
              <a:rPr lang="en-US" dirty="0" err="1"/>
              <a:t>Kothekar</a:t>
            </a:r>
            <a:r>
              <a:rPr lang="en-US" dirty="0"/>
              <a:t>, et al., "Lightweight and hybrid transformer-based solution for quick and reliable deepfake detection," Frontiers, 2025.</a:t>
            </a:r>
            <a:r>
              <a:rPr lang="en-IN" dirty="0"/>
              <a:t> DOI: https://doi.org/10.3389/fdata.2025.1521653.</a:t>
            </a:r>
          </a:p>
        </p:txBody>
      </p:sp>
    </p:spTree>
    <p:extLst>
      <p:ext uri="{BB962C8B-B14F-4D97-AF65-F5344CB8AC3E}">
        <p14:creationId xmlns:p14="http://schemas.microsoft.com/office/powerpoint/2010/main" val="1788282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lose up of a network&#10;&#10;Description automatically generated">
            <a:extLst>
              <a:ext uri="{FF2B5EF4-FFF2-40B4-BE49-F238E27FC236}">
                <a16:creationId xmlns:a16="http://schemas.microsoft.com/office/drawing/2014/main" id="{56952477-0EC0-7885-576E-DCFFAA362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5" r="10724" b="-3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2B8AA-2A28-2841-2790-D120E44759F7}"/>
              </a:ext>
            </a:extLst>
          </p:cNvPr>
          <p:cNvSpPr txBox="1"/>
          <p:nvPr/>
        </p:nvSpPr>
        <p:spPr>
          <a:xfrm>
            <a:off x="1097280" y="325550"/>
            <a:ext cx="100584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AA76A3-9949-48CD-3075-57E3B24CD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VIT CHENNAI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095F1E-2568-AE59-8108-2962C0DF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2D55722-B948-4507-9DE5-A823ACCED0A6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17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69757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5851</TotalTime>
  <Words>1692</Words>
  <Application>Microsoft Office PowerPoint</Application>
  <PresentationFormat>Widescreen</PresentationFormat>
  <Paragraphs>220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Table of Contents</vt:lpstr>
      <vt:lpstr>Problem Statement</vt:lpstr>
      <vt:lpstr>Aim and Objective</vt:lpstr>
      <vt:lpstr>Literature Gap</vt:lpstr>
      <vt:lpstr>Literature Reviews</vt:lpstr>
      <vt:lpstr>Literature Reviews (contd.)</vt:lpstr>
      <vt:lpstr>Workflow</vt:lpstr>
      <vt:lpstr>Novelty</vt:lpstr>
      <vt:lpstr>Model Overview</vt:lpstr>
      <vt:lpstr>Algorithms</vt:lpstr>
      <vt:lpstr>Results</vt:lpstr>
      <vt:lpstr>Discussion</vt:lpstr>
      <vt:lpstr>Conclusion</vt:lpstr>
      <vt:lpstr>References</vt:lpstr>
      <vt:lpstr>References (Contd.)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Anandha Bhavatarini S</dc:creator>
  <cp:lastModifiedBy>Arun Kumar</cp:lastModifiedBy>
  <cp:revision>175</cp:revision>
  <dcterms:created xsi:type="dcterms:W3CDTF">2025-10-28T13:35:23Z</dcterms:created>
  <dcterms:modified xsi:type="dcterms:W3CDTF">2026-03-27T05:26:40Z</dcterms:modified>
</cp:coreProperties>
</file>