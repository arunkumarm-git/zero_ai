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14588" cy="21388388"/>
  <p:notesSz cx="21388388" cy="151145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54" y="-44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8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56032"/>
            <a:ext cx="14473123" cy="20711160"/>
          </a:xfrm>
          <a:prstGeom prst="rect">
            <a:avLst/>
          </a:prstGeom>
          <a:ln w="254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92608"/>
            <a:ext cx="2660904" cy="140817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65760"/>
            <a:ext cx="4507992" cy="1289304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9808" y="292608"/>
            <a:ext cx="2505456" cy="13258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29184" y="1664208"/>
            <a:ext cx="144566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Filtration of Synthetic Images using 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Lightweight SigLIP 2 Hybrid Architecture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329184" y="2487168"/>
            <a:ext cx="14456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Arun Kumar M (Reg. No. 24MDT1131)   |   Dr. Hannah Grace G   |   Dept. of Mathematics, School of Advanced Sciences, VIT Chennai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365760" y="2926080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 &amp; Motivation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365760" y="3383280"/>
            <a:ext cx="7059168" cy="2348042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57200" y="3456432"/>
            <a:ext cx="6876288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Background: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Generative AI systems — including DALL-E, Stable Diffusion, Sora, and Gemini,  now produce photorealistic images at scale, threatening digital trust, enabling disinformation and fraud. Studies show even trained humans perform near-chance when distinguishing real from AI-generated images.
</a:t>
            </a: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Statement: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single-model detectors (CNNs, ViTs) suffer from poor generalisation across generative paradigms. The industry compensates with multi-model ensembles — but these are computationally prohibitive and too slow (920–5,230 ms) for real-time web deployment. No prior work has combined the SigLIP 2 vision encoder with explicit traditional forensic features in a unified single-pass architecture.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65760" y="5779008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Construction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365760" y="6236207"/>
            <a:ext cx="7059168" cy="3236709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457200" y="6417988"/>
            <a:ext cx="3310128" cy="1407903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48640" y="6472853"/>
            <a:ext cx="3127248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 Images  —  4,212 photographs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65539" y="6802037"/>
            <a:ext cx="3127248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Reddit photography communities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Discord curated collections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Diverse subjects: portraits, landscapes, objects,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 overlays, artistic styles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023360" y="6417989"/>
            <a:ext cx="3310128" cy="1407902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114800" y="6472853"/>
            <a:ext cx="3127248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Images  —  3,380 generated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114800" y="6820324"/>
            <a:ext cx="3127248" cy="6583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OpenAI DALL-E and Sora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Google Gemini image generation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Ideogram Explorer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Leonardo AI (Stable Diffusion variants)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38912" y="8010191"/>
            <a:ext cx="6876288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Total: 7,592 images  |  Stratified Split (58% Real / 42% AI preserved in each partition):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64312" y="8387061"/>
            <a:ext cx="2377440" cy="182880"/>
          </a:xfrm>
          <a:prstGeom prst="rect">
            <a:avLst/>
          </a:prstGeom>
          <a:solidFill>
            <a:srgbClr val="1B3A6B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00888" y="8387061"/>
            <a:ext cx="230428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Split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2841752" y="8387061"/>
            <a:ext cx="1097280" cy="182880"/>
          </a:xfrm>
          <a:prstGeom prst="rect">
            <a:avLst/>
          </a:prstGeom>
          <a:solidFill>
            <a:srgbClr val="1B3A6B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2878328" y="8387061"/>
            <a:ext cx="102412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3939032" y="8387061"/>
            <a:ext cx="1097280" cy="182880"/>
          </a:xfrm>
          <a:prstGeom prst="rect">
            <a:avLst/>
          </a:prstGeom>
          <a:solidFill>
            <a:srgbClr val="1B3A6B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3975608" y="8387061"/>
            <a:ext cx="102412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5036312" y="8387061"/>
            <a:ext cx="1280160" cy="182880"/>
          </a:xfrm>
          <a:prstGeom prst="rect">
            <a:avLst/>
          </a:prstGeom>
          <a:solidFill>
            <a:srgbClr val="1B3A6B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072888" y="8387061"/>
            <a:ext cx="120700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AI-Generated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64312" y="8569941"/>
            <a:ext cx="237744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500888" y="8569941"/>
            <a:ext cx="230428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(70%)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2841752" y="8569941"/>
            <a:ext cx="10972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2878328" y="8569941"/>
            <a:ext cx="102412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5,320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3939032" y="8569941"/>
            <a:ext cx="10972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3975608" y="8569941"/>
            <a:ext cx="102412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3,080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9"/>
          <p:cNvSpPr/>
          <p:nvPr/>
        </p:nvSpPr>
        <p:spPr>
          <a:xfrm>
            <a:off x="5036312" y="8569941"/>
            <a:ext cx="128016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5072888" y="8569941"/>
            <a:ext cx="120700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2,240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464312" y="8752821"/>
            <a:ext cx="2377440" cy="182880"/>
          </a:xfrm>
          <a:prstGeom prst="rect">
            <a:avLst/>
          </a:prstGeom>
          <a:solidFill>
            <a:srgbClr val="F0F4FA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500888" y="8752821"/>
            <a:ext cx="230428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Validation (15%)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2841752" y="8752821"/>
            <a:ext cx="1097280" cy="182880"/>
          </a:xfrm>
          <a:prstGeom prst="rect">
            <a:avLst/>
          </a:prstGeom>
          <a:solidFill>
            <a:srgbClr val="F0F4FA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2878328" y="8752821"/>
            <a:ext cx="102412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1,140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3939032" y="8752821"/>
            <a:ext cx="1097280" cy="182880"/>
          </a:xfrm>
          <a:prstGeom prst="rect">
            <a:avLst/>
          </a:prstGeom>
          <a:solidFill>
            <a:srgbClr val="F0F4FA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3975608" y="8752821"/>
            <a:ext cx="102412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660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7"/>
          <p:cNvSpPr/>
          <p:nvPr/>
        </p:nvSpPr>
        <p:spPr>
          <a:xfrm>
            <a:off x="5036312" y="8752821"/>
            <a:ext cx="1280160" cy="182880"/>
          </a:xfrm>
          <a:prstGeom prst="rect">
            <a:avLst/>
          </a:prstGeom>
          <a:solidFill>
            <a:srgbClr val="F0F4FA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5072888" y="8752821"/>
            <a:ext cx="120700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480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9"/>
          <p:cNvSpPr/>
          <p:nvPr/>
        </p:nvSpPr>
        <p:spPr>
          <a:xfrm>
            <a:off x="464312" y="8935701"/>
            <a:ext cx="237744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500888" y="8935701"/>
            <a:ext cx="230428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 / Held-out (15%)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1"/>
          <p:cNvSpPr/>
          <p:nvPr/>
        </p:nvSpPr>
        <p:spPr>
          <a:xfrm>
            <a:off x="2841752" y="8935701"/>
            <a:ext cx="10972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2878328" y="8935701"/>
            <a:ext cx="102412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1,132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3"/>
          <p:cNvSpPr/>
          <p:nvPr/>
        </p:nvSpPr>
        <p:spPr>
          <a:xfrm>
            <a:off x="3939032" y="8935701"/>
            <a:ext cx="109728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4"/>
          <p:cNvSpPr/>
          <p:nvPr/>
        </p:nvSpPr>
        <p:spPr>
          <a:xfrm>
            <a:off x="3975608" y="8935701"/>
            <a:ext cx="102412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472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5"/>
          <p:cNvSpPr/>
          <p:nvPr/>
        </p:nvSpPr>
        <p:spPr>
          <a:xfrm>
            <a:off x="5036312" y="8935701"/>
            <a:ext cx="128016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6"/>
          <p:cNvSpPr/>
          <p:nvPr/>
        </p:nvSpPr>
        <p:spPr>
          <a:xfrm>
            <a:off x="5072888" y="8935701"/>
            <a:ext cx="1207008" cy="1645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660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47"/>
          <p:cNvSpPr/>
          <p:nvPr/>
        </p:nvSpPr>
        <p:spPr>
          <a:xfrm>
            <a:off x="385668" y="9760378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48"/>
          <p:cNvSpPr/>
          <p:nvPr/>
        </p:nvSpPr>
        <p:spPr>
          <a:xfrm>
            <a:off x="438912" y="10433304"/>
            <a:ext cx="7059168" cy="5212080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49"/>
          <p:cNvSpPr/>
          <p:nvPr/>
        </p:nvSpPr>
        <p:spPr>
          <a:xfrm>
            <a:off x="2557368" y="10262741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E8F0FB"/>
          </a:solidFill>
          <a:ln w="1270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0"/>
          <p:cNvSpPr/>
          <p:nvPr/>
        </p:nvSpPr>
        <p:spPr>
          <a:xfrm>
            <a:off x="2557368" y="1033589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 Image (RGB, any format)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1"/>
          <p:cNvSpPr/>
          <p:nvPr/>
        </p:nvSpPr>
        <p:spPr>
          <a:xfrm>
            <a:off x="2604008" y="10722460"/>
            <a:ext cx="2743200" cy="2011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  Adaptive resize to 512 × 512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2"/>
          <p:cNvSpPr/>
          <p:nvPr/>
        </p:nvSpPr>
        <p:spPr>
          <a:xfrm>
            <a:off x="632460" y="11068546"/>
            <a:ext cx="3236976" cy="45834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3"/>
          <p:cNvSpPr/>
          <p:nvPr/>
        </p:nvSpPr>
        <p:spPr>
          <a:xfrm>
            <a:off x="570676" y="11172569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SigLIP 2 Vision Backbone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4"/>
          <p:cNvSpPr/>
          <p:nvPr/>
        </p:nvSpPr>
        <p:spPr>
          <a:xfrm>
            <a:off x="632460" y="11531473"/>
            <a:ext cx="3236976" cy="1403680"/>
          </a:xfrm>
          <a:prstGeom prst="rect">
            <a:avLst/>
          </a:prstGeom>
          <a:solidFill>
            <a:srgbClr val="EBF2FF"/>
          </a:solidFill>
          <a:ln w="1270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5"/>
          <p:cNvSpPr/>
          <p:nvPr/>
        </p:nvSpPr>
        <p:spPr>
          <a:xfrm>
            <a:off x="740568" y="11531474"/>
            <a:ext cx="3090672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Text encoder removed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Image encoder only retained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Position embeddings bicubically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interpolated: 14×14 → 32×32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Processes images at 512×512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Output: 1,024-dimensional embedding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6"/>
          <p:cNvSpPr/>
          <p:nvPr/>
        </p:nvSpPr>
        <p:spPr>
          <a:xfrm>
            <a:off x="4070604" y="11068546"/>
            <a:ext cx="3236976" cy="452725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7"/>
          <p:cNvSpPr/>
          <p:nvPr/>
        </p:nvSpPr>
        <p:spPr>
          <a:xfrm>
            <a:off x="4005676" y="11167345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Forensic Feature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58"/>
          <p:cNvSpPr/>
          <p:nvPr/>
        </p:nvSpPr>
        <p:spPr>
          <a:xfrm>
            <a:off x="4078224" y="11509606"/>
            <a:ext cx="3229356" cy="1425547"/>
          </a:xfrm>
          <a:prstGeom prst="rect">
            <a:avLst/>
          </a:prstGeom>
          <a:solidFill>
            <a:srgbClr val="FFF3EC"/>
          </a:solidFill>
          <a:ln w="12700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59"/>
          <p:cNvSpPr/>
          <p:nvPr/>
        </p:nvSpPr>
        <p:spPr>
          <a:xfrm>
            <a:off x="4174140" y="11523516"/>
            <a:ext cx="3090672" cy="10972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7 traditional forensic signals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(LBP, DCT, FFT, Haar Wavelet,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Bayer Noise, Gradient, Edge)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MLP: 7 → 64 → 128 → 128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LayerNorm + GELU activation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Output: 128-dimensional embedding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hape 60"/>
          <p:cNvSpPr/>
          <p:nvPr/>
        </p:nvSpPr>
        <p:spPr>
          <a:xfrm>
            <a:off x="2369916" y="13195631"/>
            <a:ext cx="3108960" cy="472440"/>
          </a:xfrm>
          <a:prstGeom prst="roundRect">
            <a:avLst>
              <a:gd name="adj" fmla="val 13158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1"/>
          <p:cNvSpPr/>
          <p:nvPr/>
        </p:nvSpPr>
        <p:spPr>
          <a:xfrm>
            <a:off x="2374488" y="1325783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5E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Feature Concatenation  →  1,152-dimensional fused representation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2"/>
          <p:cNvSpPr/>
          <p:nvPr/>
        </p:nvSpPr>
        <p:spPr>
          <a:xfrm>
            <a:off x="2369916" y="13953352"/>
            <a:ext cx="3108960" cy="8290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63"/>
          <p:cNvSpPr/>
          <p:nvPr/>
        </p:nvSpPr>
        <p:spPr>
          <a:xfrm>
            <a:off x="2356104" y="14008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Hybrid Forensic Head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4"/>
          <p:cNvSpPr/>
          <p:nvPr/>
        </p:nvSpPr>
        <p:spPr>
          <a:xfrm>
            <a:off x="2397348" y="14217853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Linear(1152→1024) · SE-Style Channel Attention · Linear(1024→512) · Linear(512→2)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hape 65"/>
          <p:cNvSpPr/>
          <p:nvPr/>
        </p:nvSpPr>
        <p:spPr>
          <a:xfrm>
            <a:off x="2561940" y="15004332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6"/>
          <p:cNvSpPr/>
          <p:nvPr/>
        </p:nvSpPr>
        <p:spPr>
          <a:xfrm>
            <a:off x="2561940" y="150896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AI-Generated  /  Real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67"/>
          <p:cNvSpPr/>
          <p:nvPr/>
        </p:nvSpPr>
        <p:spPr>
          <a:xfrm>
            <a:off x="381000" y="15956733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Training Strategy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Shape 68"/>
          <p:cNvSpPr/>
          <p:nvPr/>
        </p:nvSpPr>
        <p:spPr>
          <a:xfrm>
            <a:off x="371952" y="16490519"/>
            <a:ext cx="7059168" cy="1755648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69"/>
          <p:cNvSpPr/>
          <p:nvPr/>
        </p:nvSpPr>
        <p:spPr>
          <a:xfrm>
            <a:off x="531972" y="16465373"/>
            <a:ext cx="6821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Backbone Freeze-Unfreeze:  </a:t>
            </a: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Epochs 1–2: backbone frozen, only FeatureMLP + Head trained. Epoch 3+: full joint fine-tuning.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70"/>
          <p:cNvSpPr/>
          <p:nvPr/>
        </p:nvSpPr>
        <p:spPr>
          <a:xfrm>
            <a:off x="522828" y="16899713"/>
            <a:ext cx="6821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Differential Learning Rate:  </a:t>
            </a: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lr = 2×10⁻⁵ for FeatureMLP + Head; lr = 2×10⁻⁶ for backbone (10× reduced to prevent catastrophic forgetting).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 71"/>
          <p:cNvSpPr/>
          <p:nvPr/>
        </p:nvSpPr>
        <p:spPr>
          <a:xfrm>
            <a:off x="518256" y="17324909"/>
            <a:ext cx="6821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Loss &amp; Optimisation:  </a:t>
            </a: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Class-weighted cross-entropy with label smoothing (ε = 0.05). AdamW optimiser. Cosine annealing LR schedule with linear warmup.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72"/>
          <p:cNvSpPr/>
          <p:nvPr/>
        </p:nvSpPr>
        <p:spPr>
          <a:xfrm>
            <a:off x="518256" y="17762297"/>
            <a:ext cx="6821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Hardware:  </a:t>
            </a: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 Notebooks · 2× NVIDIA Tesla T4 (16 GB each) · fp16 mixed precision · max 25 epochs · early stopping (patience = 3)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73"/>
          <p:cNvSpPr/>
          <p:nvPr/>
        </p:nvSpPr>
        <p:spPr>
          <a:xfrm>
            <a:off x="385668" y="18410759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Novelty &amp; Contributions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Shape 74"/>
          <p:cNvSpPr/>
          <p:nvPr/>
        </p:nvSpPr>
        <p:spPr>
          <a:xfrm>
            <a:off x="385668" y="18960846"/>
            <a:ext cx="7059168" cy="1785980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75"/>
          <p:cNvSpPr/>
          <p:nvPr/>
        </p:nvSpPr>
        <p:spPr>
          <a:xfrm>
            <a:off x="443388" y="19013501"/>
            <a:ext cx="6821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■  </a:t>
            </a: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First work to combine a SigLIP 2 vision encoder (text-encoder removed) with 7 explicit physics-grounded forensic signals in a unified single-pass hybrid architecture for AI image detection.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76"/>
          <p:cNvSpPr/>
          <p:nvPr/>
        </p:nvSpPr>
        <p:spPr>
          <a:xfrm>
            <a:off x="443388" y="19388977"/>
            <a:ext cx="6821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■  </a:t>
            </a: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Position embeddings bicubically interpolated from 14×14 (224px) to 32×32 (512px) — preserving forensically important fine-grained detail destroyed at standard resolution.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77"/>
          <p:cNvSpPr/>
          <p:nvPr/>
        </p:nvSpPr>
        <p:spPr>
          <a:xfrm>
            <a:off x="443388" y="19818173"/>
            <a:ext cx="6821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■  </a:t>
            </a: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SE-style channel attention in the classification head dynamically learns to weight deep visual features vs. traditional forensic features, adapting to each image's properties.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 78"/>
          <p:cNvSpPr/>
          <p:nvPr/>
        </p:nvSpPr>
        <p:spPr>
          <a:xfrm>
            <a:off x="443388" y="20243369"/>
            <a:ext cx="68214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■  </a:t>
            </a: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Deployed as open Hugging Face Spaces application with CPU inference — accessible, real-time digital image verification for journalists, fact-checkers and citizens.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79"/>
          <p:cNvSpPr/>
          <p:nvPr/>
        </p:nvSpPr>
        <p:spPr>
          <a:xfrm>
            <a:off x="7571232" y="2926080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Seven Forensic Feature Signals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80"/>
          <p:cNvSpPr/>
          <p:nvPr/>
        </p:nvSpPr>
        <p:spPr>
          <a:xfrm>
            <a:off x="7555783" y="3364992"/>
            <a:ext cx="7205472" cy="4224528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Shape 81"/>
          <p:cNvSpPr/>
          <p:nvPr/>
        </p:nvSpPr>
        <p:spPr>
          <a:xfrm>
            <a:off x="7647223" y="3438144"/>
            <a:ext cx="7022592" cy="576072"/>
          </a:xfrm>
          <a:prstGeom prst="rect">
            <a:avLst/>
          </a:prstGeom>
          <a:solidFill>
            <a:srgbClr val="F5F8FF"/>
          </a:solidFill>
          <a:ln w="6350">
            <a:solidFill>
              <a:srgbClr val="D0D8E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Shape 82"/>
          <p:cNvSpPr/>
          <p:nvPr/>
        </p:nvSpPr>
        <p:spPr>
          <a:xfrm>
            <a:off x="7683799" y="3547872"/>
            <a:ext cx="292608" cy="29260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 83"/>
          <p:cNvSpPr/>
          <p:nvPr/>
        </p:nvSpPr>
        <p:spPr>
          <a:xfrm>
            <a:off x="7683799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Shape 84"/>
          <p:cNvSpPr/>
          <p:nvPr/>
        </p:nvSpPr>
        <p:spPr>
          <a:xfrm>
            <a:off x="14048023" y="3547872"/>
            <a:ext cx="548640" cy="365760"/>
          </a:xfrm>
          <a:prstGeom prst="roundRect">
            <a:avLst>
              <a:gd name="adj" fmla="val 14286"/>
            </a:avLst>
          </a:prstGeom>
          <a:solidFill>
            <a:srgbClr val="1B6B47"/>
          </a:solidFill>
          <a:ln w="12700">
            <a:solidFill>
              <a:srgbClr val="1B6B47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85"/>
          <p:cNvSpPr/>
          <p:nvPr/>
        </p:nvSpPr>
        <p:spPr>
          <a:xfrm>
            <a:off x="14048023" y="35661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AUC 0.79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 86"/>
          <p:cNvSpPr/>
          <p:nvPr/>
        </p:nvSpPr>
        <p:spPr>
          <a:xfrm>
            <a:off x="8049559" y="3474720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LBP Entropy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 87"/>
          <p:cNvSpPr/>
          <p:nvPr/>
        </p:nvSpPr>
        <p:spPr>
          <a:xfrm>
            <a:off x="8049559" y="3657600"/>
            <a:ext cx="5907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Texture randomness — AI images have unnaturally uniform or over-random micro-texture distributions due to optimising for global aesthetic coherence rather than physical realism.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Shape 88"/>
          <p:cNvSpPr/>
          <p:nvPr/>
        </p:nvSpPr>
        <p:spPr>
          <a:xfrm>
            <a:off x="7647223" y="4014216"/>
            <a:ext cx="7022592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Shape 89"/>
          <p:cNvSpPr/>
          <p:nvPr/>
        </p:nvSpPr>
        <p:spPr>
          <a:xfrm>
            <a:off x="7683799" y="4087368"/>
            <a:ext cx="292608" cy="29260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 90"/>
          <p:cNvSpPr/>
          <p:nvPr/>
        </p:nvSpPr>
        <p:spPr>
          <a:xfrm>
            <a:off x="7683799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Shape 91"/>
          <p:cNvSpPr/>
          <p:nvPr/>
        </p:nvSpPr>
        <p:spPr>
          <a:xfrm>
            <a:off x="14048023" y="4087368"/>
            <a:ext cx="548640" cy="365760"/>
          </a:xfrm>
          <a:prstGeom prst="roundRect">
            <a:avLst>
              <a:gd name="adj" fmla="val 14286"/>
            </a:avLst>
          </a:prstGeom>
          <a:solidFill>
            <a:srgbClr val="1B5068"/>
          </a:solidFill>
          <a:ln w="12700">
            <a:solidFill>
              <a:srgbClr val="1B5068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 92"/>
          <p:cNvSpPr/>
          <p:nvPr/>
        </p:nvSpPr>
        <p:spPr>
          <a:xfrm>
            <a:off x="14048023" y="41056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AUC 0.69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93"/>
          <p:cNvSpPr/>
          <p:nvPr/>
        </p:nvSpPr>
        <p:spPr>
          <a:xfrm>
            <a:off x="8049559" y="4014216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DCT Blocking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 94"/>
          <p:cNvSpPr/>
          <p:nvPr/>
        </p:nvSpPr>
        <p:spPr>
          <a:xfrm>
            <a:off x="8049559" y="4197096"/>
            <a:ext cx="5907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Benford's Law deviation — AI-generated images violate the natural first-digit distribution of DCT AC coefficients found in JPEG-compressed real camera images.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hape 95"/>
          <p:cNvSpPr/>
          <p:nvPr/>
        </p:nvSpPr>
        <p:spPr>
          <a:xfrm>
            <a:off x="7647223" y="4553712"/>
            <a:ext cx="7022592" cy="539496"/>
          </a:xfrm>
          <a:prstGeom prst="rect">
            <a:avLst/>
          </a:prstGeom>
          <a:solidFill>
            <a:srgbClr val="F5F8FF"/>
          </a:solidFill>
          <a:ln w="6350">
            <a:solidFill>
              <a:srgbClr val="D0D8E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Shape 96"/>
          <p:cNvSpPr/>
          <p:nvPr/>
        </p:nvSpPr>
        <p:spPr>
          <a:xfrm>
            <a:off x="7683799" y="4626864"/>
            <a:ext cx="292608" cy="29260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 97"/>
          <p:cNvSpPr/>
          <p:nvPr/>
        </p:nvSpPr>
        <p:spPr>
          <a:xfrm>
            <a:off x="7683799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Shape 98"/>
          <p:cNvSpPr/>
          <p:nvPr/>
        </p:nvSpPr>
        <p:spPr>
          <a:xfrm>
            <a:off x="14048023" y="4626864"/>
            <a:ext cx="548640" cy="365760"/>
          </a:xfrm>
          <a:prstGeom prst="roundRect">
            <a:avLst>
              <a:gd name="adj" fmla="val 14286"/>
            </a:avLst>
          </a:prstGeom>
          <a:solidFill>
            <a:srgbClr val="1B5068"/>
          </a:solidFill>
          <a:ln w="12700">
            <a:solidFill>
              <a:srgbClr val="1B5068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 99"/>
          <p:cNvSpPr/>
          <p:nvPr/>
        </p:nvSpPr>
        <p:spPr>
          <a:xfrm>
            <a:off x="14048023" y="46451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AUC 0.68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100"/>
          <p:cNvSpPr/>
          <p:nvPr/>
        </p:nvSpPr>
        <p:spPr>
          <a:xfrm>
            <a:off x="8049559" y="4553712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Gradient Co-occurrence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 101"/>
          <p:cNvSpPr/>
          <p:nvPr/>
        </p:nvSpPr>
        <p:spPr>
          <a:xfrm>
            <a:off x="8049559" y="4736592"/>
            <a:ext cx="5907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structure complexity — AI images produce edges that are either overly smooth and uniform or exhibit unnatural repetitive patterns, unlike real photo boundaries.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Shape 102"/>
          <p:cNvSpPr/>
          <p:nvPr/>
        </p:nvSpPr>
        <p:spPr>
          <a:xfrm>
            <a:off x="7647223" y="5093208"/>
            <a:ext cx="7022592" cy="593685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Shape 103"/>
          <p:cNvSpPr/>
          <p:nvPr/>
        </p:nvSpPr>
        <p:spPr>
          <a:xfrm>
            <a:off x="7683799" y="5166360"/>
            <a:ext cx="292608" cy="29260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 104"/>
          <p:cNvSpPr/>
          <p:nvPr/>
        </p:nvSpPr>
        <p:spPr>
          <a:xfrm>
            <a:off x="7683799" y="5166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Shape 105"/>
          <p:cNvSpPr/>
          <p:nvPr/>
        </p:nvSpPr>
        <p:spPr>
          <a:xfrm>
            <a:off x="14048023" y="5166360"/>
            <a:ext cx="548640" cy="365760"/>
          </a:xfrm>
          <a:prstGeom prst="roundRect">
            <a:avLst>
              <a:gd name="adj" fmla="val 14286"/>
            </a:avLst>
          </a:prstGeom>
          <a:solidFill>
            <a:srgbClr val="1B5068"/>
          </a:solidFill>
          <a:ln w="12700">
            <a:solidFill>
              <a:srgbClr val="1B5068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106"/>
          <p:cNvSpPr/>
          <p:nvPr/>
        </p:nvSpPr>
        <p:spPr>
          <a:xfrm>
            <a:off x="14048023" y="5184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AUC 0.66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 107"/>
          <p:cNvSpPr/>
          <p:nvPr/>
        </p:nvSpPr>
        <p:spPr>
          <a:xfrm>
            <a:off x="8049559" y="5093208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Haar Wavelet Energy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 108"/>
          <p:cNvSpPr/>
          <p:nvPr/>
        </p:nvSpPr>
        <p:spPr>
          <a:xfrm>
            <a:off x="8049559" y="5276088"/>
            <a:ext cx="5907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Diagonal sub-band energy ratio — AI images systematically lack fine diagonal detail present in real photographs due to locally over-smooth synthetic textures.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Shape 109"/>
          <p:cNvSpPr/>
          <p:nvPr/>
        </p:nvSpPr>
        <p:spPr>
          <a:xfrm>
            <a:off x="7657148" y="5686893"/>
            <a:ext cx="7022592" cy="603841"/>
          </a:xfrm>
          <a:prstGeom prst="rect">
            <a:avLst/>
          </a:prstGeom>
          <a:solidFill>
            <a:srgbClr val="F5F8FF"/>
          </a:solidFill>
          <a:ln w="6350">
            <a:solidFill>
              <a:srgbClr val="D0D8E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Shape 110"/>
          <p:cNvSpPr/>
          <p:nvPr/>
        </p:nvSpPr>
        <p:spPr>
          <a:xfrm>
            <a:off x="7683799" y="5760045"/>
            <a:ext cx="292608" cy="29260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 111"/>
          <p:cNvSpPr/>
          <p:nvPr/>
        </p:nvSpPr>
        <p:spPr>
          <a:xfrm>
            <a:off x="7683799" y="57600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Shape 112"/>
          <p:cNvSpPr/>
          <p:nvPr/>
        </p:nvSpPr>
        <p:spPr>
          <a:xfrm>
            <a:off x="14048023" y="5760045"/>
            <a:ext cx="548640" cy="365760"/>
          </a:xfrm>
          <a:prstGeom prst="roundRect">
            <a:avLst>
              <a:gd name="adj" fmla="val 14286"/>
            </a:avLst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Text 113"/>
          <p:cNvSpPr/>
          <p:nvPr/>
        </p:nvSpPr>
        <p:spPr>
          <a:xfrm>
            <a:off x="14048023" y="5778333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AUC 0.64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 114"/>
          <p:cNvSpPr/>
          <p:nvPr/>
        </p:nvSpPr>
        <p:spPr>
          <a:xfrm>
            <a:off x="8049559" y="5686893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FFT Power Slope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Text 115"/>
          <p:cNvSpPr/>
          <p:nvPr/>
        </p:nvSpPr>
        <p:spPr>
          <a:xfrm>
            <a:off x="8049559" y="5869773"/>
            <a:ext cx="5907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Log-log frequency ratio — AI images cluster unusually tightly near slope −2.5 with less variance than natural photographs and show decoder frequency biases.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Shape 116"/>
          <p:cNvSpPr/>
          <p:nvPr/>
        </p:nvSpPr>
        <p:spPr>
          <a:xfrm>
            <a:off x="7659020" y="6300216"/>
            <a:ext cx="7022592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Shape 117"/>
          <p:cNvSpPr/>
          <p:nvPr/>
        </p:nvSpPr>
        <p:spPr>
          <a:xfrm>
            <a:off x="7695596" y="6409944"/>
            <a:ext cx="292608" cy="29260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 118"/>
          <p:cNvSpPr/>
          <p:nvPr/>
        </p:nvSpPr>
        <p:spPr>
          <a:xfrm>
            <a:off x="7695596" y="6409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19"/>
          <p:cNvSpPr/>
          <p:nvPr/>
        </p:nvSpPr>
        <p:spPr>
          <a:xfrm>
            <a:off x="14059820" y="6409943"/>
            <a:ext cx="548640" cy="402336"/>
          </a:xfrm>
          <a:prstGeom prst="roundRect">
            <a:avLst>
              <a:gd name="adj" fmla="val 14286"/>
            </a:avLst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 120"/>
          <p:cNvSpPr/>
          <p:nvPr/>
        </p:nvSpPr>
        <p:spPr>
          <a:xfrm>
            <a:off x="14059820" y="6428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AUC 0.63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 121"/>
          <p:cNvSpPr/>
          <p:nvPr/>
        </p:nvSpPr>
        <p:spPr>
          <a:xfrm>
            <a:off x="8061356" y="6336792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Bayer Noise Pattern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 122"/>
          <p:cNvSpPr/>
          <p:nvPr/>
        </p:nvSpPr>
        <p:spPr>
          <a:xfrm>
            <a:off x="8061356" y="6519672"/>
            <a:ext cx="5907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sensor fingerprint — every real camera leaves unique inter-channel noise correlations from Bayer demosaicing; AI generators synthesise all channels simultaneously, so this is absent.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Shape 123"/>
          <p:cNvSpPr/>
          <p:nvPr/>
        </p:nvSpPr>
        <p:spPr>
          <a:xfrm>
            <a:off x="7662672" y="6903720"/>
            <a:ext cx="7022592" cy="604520"/>
          </a:xfrm>
          <a:prstGeom prst="rect">
            <a:avLst/>
          </a:prstGeom>
          <a:solidFill>
            <a:srgbClr val="F5F8FF"/>
          </a:solidFill>
          <a:ln w="6350">
            <a:solidFill>
              <a:srgbClr val="D0D8EE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Shape 124"/>
          <p:cNvSpPr/>
          <p:nvPr/>
        </p:nvSpPr>
        <p:spPr>
          <a:xfrm>
            <a:off x="7699248" y="7013448"/>
            <a:ext cx="292608" cy="29260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 125"/>
          <p:cNvSpPr/>
          <p:nvPr/>
        </p:nvSpPr>
        <p:spPr>
          <a:xfrm>
            <a:off x="7699248" y="7013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Shape 126"/>
          <p:cNvSpPr/>
          <p:nvPr/>
        </p:nvSpPr>
        <p:spPr>
          <a:xfrm>
            <a:off x="14063472" y="7013447"/>
            <a:ext cx="548640" cy="382950"/>
          </a:xfrm>
          <a:prstGeom prst="roundRect">
            <a:avLst>
              <a:gd name="adj" fmla="val 14286"/>
            </a:avLst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 127"/>
          <p:cNvSpPr/>
          <p:nvPr/>
        </p:nvSpPr>
        <p:spPr>
          <a:xfrm>
            <a:off x="14063472" y="70317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AUC 0.61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 128"/>
          <p:cNvSpPr/>
          <p:nvPr/>
        </p:nvSpPr>
        <p:spPr>
          <a:xfrm>
            <a:off x="8065008" y="6940296"/>
            <a:ext cx="5907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Edge Sharpness Grid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 129"/>
          <p:cNvSpPr/>
          <p:nvPr/>
        </p:nvSpPr>
        <p:spPr>
          <a:xfrm>
            <a:off x="8065008" y="7123176"/>
            <a:ext cx="5907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Spatial sharpness distribution — AI images show unnatural centre-vs-periphery sharpness ratios, unlike the depth-of-field physics of real camera lenses.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 130"/>
          <p:cNvSpPr/>
          <p:nvPr/>
        </p:nvSpPr>
        <p:spPr>
          <a:xfrm>
            <a:off x="7571232" y="7753838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on Held-Out Test Set (1,132 images)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Shape 131"/>
          <p:cNvSpPr/>
          <p:nvPr/>
        </p:nvSpPr>
        <p:spPr>
          <a:xfrm>
            <a:off x="7571232" y="8211038"/>
            <a:ext cx="7205472" cy="2340864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Shape 132"/>
          <p:cNvSpPr/>
          <p:nvPr/>
        </p:nvSpPr>
        <p:spPr>
          <a:xfrm>
            <a:off x="7699248" y="8320766"/>
            <a:ext cx="2298192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 133"/>
          <p:cNvSpPr/>
          <p:nvPr/>
        </p:nvSpPr>
        <p:spPr>
          <a:xfrm>
            <a:off x="7699248" y="8430494"/>
            <a:ext cx="2292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96.6%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 134"/>
          <p:cNvSpPr/>
          <p:nvPr/>
        </p:nvSpPr>
        <p:spPr>
          <a:xfrm>
            <a:off x="7699248" y="8960846"/>
            <a:ext cx="2292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Shape 135"/>
          <p:cNvSpPr/>
          <p:nvPr/>
        </p:nvSpPr>
        <p:spPr>
          <a:xfrm>
            <a:off x="10027920" y="8320766"/>
            <a:ext cx="2292096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6B47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 136"/>
          <p:cNvSpPr/>
          <p:nvPr/>
        </p:nvSpPr>
        <p:spPr>
          <a:xfrm>
            <a:off x="10027920" y="8430494"/>
            <a:ext cx="2292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98.9%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 137"/>
          <p:cNvSpPr/>
          <p:nvPr/>
        </p:nvSpPr>
        <p:spPr>
          <a:xfrm>
            <a:off x="10027920" y="8960846"/>
            <a:ext cx="2292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Shape 138"/>
          <p:cNvSpPr/>
          <p:nvPr/>
        </p:nvSpPr>
        <p:spPr>
          <a:xfrm>
            <a:off x="12356592" y="8320766"/>
            <a:ext cx="2292096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5068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 139"/>
          <p:cNvSpPr/>
          <p:nvPr/>
        </p:nvSpPr>
        <p:spPr>
          <a:xfrm>
            <a:off x="12356592" y="8430494"/>
            <a:ext cx="2292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506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95.3%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 140"/>
          <p:cNvSpPr/>
          <p:nvPr/>
        </p:nvSpPr>
        <p:spPr>
          <a:xfrm>
            <a:off x="12356592" y="8960846"/>
            <a:ext cx="2292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Shape 141"/>
          <p:cNvSpPr/>
          <p:nvPr/>
        </p:nvSpPr>
        <p:spPr>
          <a:xfrm>
            <a:off x="7699248" y="9436334"/>
            <a:ext cx="2298192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8B4000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 142"/>
          <p:cNvSpPr/>
          <p:nvPr/>
        </p:nvSpPr>
        <p:spPr>
          <a:xfrm>
            <a:off x="7699248" y="9546062"/>
            <a:ext cx="2292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4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97.0%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 143"/>
          <p:cNvSpPr/>
          <p:nvPr/>
        </p:nvSpPr>
        <p:spPr>
          <a:xfrm>
            <a:off x="7699248" y="10076414"/>
            <a:ext cx="2292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F1-Score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Shape 144"/>
          <p:cNvSpPr/>
          <p:nvPr/>
        </p:nvSpPr>
        <p:spPr>
          <a:xfrm>
            <a:off x="10027920" y="9436334"/>
            <a:ext cx="2292096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5B2D8B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 145"/>
          <p:cNvSpPr/>
          <p:nvPr/>
        </p:nvSpPr>
        <p:spPr>
          <a:xfrm>
            <a:off x="10027920" y="9546062"/>
            <a:ext cx="2292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2D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0.992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Text 146"/>
          <p:cNvSpPr/>
          <p:nvPr/>
        </p:nvSpPr>
        <p:spPr>
          <a:xfrm>
            <a:off x="10027920" y="10076414"/>
            <a:ext cx="2292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AUC-ROC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Shape 147"/>
          <p:cNvSpPr/>
          <p:nvPr/>
        </p:nvSpPr>
        <p:spPr>
          <a:xfrm>
            <a:off x="12356592" y="9436334"/>
            <a:ext cx="2292096" cy="1024128"/>
          </a:xfrm>
          <a:prstGeom prst="rect">
            <a:avLst/>
          </a:prstGeom>
          <a:solidFill>
            <a:srgbClr val="FFFFFF"/>
          </a:solidFill>
          <a:ln w="25400">
            <a:solidFill>
              <a:srgbClr val="444466"/>
            </a:solidFill>
            <a:prstDash val="solid"/>
          </a:ln>
          <a:effectLst>
            <a:outerShdw blurRad="635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 148"/>
          <p:cNvSpPr/>
          <p:nvPr/>
        </p:nvSpPr>
        <p:spPr>
          <a:xfrm>
            <a:off x="12356592" y="9546062"/>
            <a:ext cx="2292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444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142 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 149"/>
          <p:cNvSpPr/>
          <p:nvPr/>
        </p:nvSpPr>
        <p:spPr>
          <a:xfrm>
            <a:off x="12356592" y="10076414"/>
            <a:ext cx="2292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Inference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555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(2*T4 GPU)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Shape 150"/>
          <p:cNvSpPr/>
          <p:nvPr/>
        </p:nvSpPr>
        <p:spPr>
          <a:xfrm>
            <a:off x="7571231" y="10670656"/>
            <a:ext cx="7171403" cy="512064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Text 151"/>
          <p:cNvSpPr/>
          <p:nvPr/>
        </p:nvSpPr>
        <p:spPr>
          <a:xfrm>
            <a:off x="7699248" y="10780384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Confusion Matrix: </a:t>
            </a: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465 of 472 real images correctly classified (FP rate 1.5%)   |   629 of 660 AI images correctly detected (FN rate 4.7%)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Text 152"/>
          <p:cNvSpPr/>
          <p:nvPr/>
        </p:nvSpPr>
        <p:spPr>
          <a:xfrm>
            <a:off x="7534656" y="11470589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Comparison with Commercial Detection Tools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Shape 153"/>
          <p:cNvSpPr/>
          <p:nvPr/>
        </p:nvSpPr>
        <p:spPr>
          <a:xfrm>
            <a:off x="7593996" y="11927789"/>
            <a:ext cx="7091268" cy="1664208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Shape 154"/>
          <p:cNvSpPr/>
          <p:nvPr/>
        </p:nvSpPr>
        <p:spPr>
          <a:xfrm>
            <a:off x="7662672" y="12000941"/>
            <a:ext cx="694944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Text 155"/>
          <p:cNvSpPr/>
          <p:nvPr/>
        </p:nvSpPr>
        <p:spPr>
          <a:xfrm>
            <a:off x="7699248" y="12019229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Detector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 156"/>
          <p:cNvSpPr/>
          <p:nvPr/>
        </p:nvSpPr>
        <p:spPr>
          <a:xfrm>
            <a:off x="10076688" y="12019229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Verdict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 157"/>
          <p:cNvSpPr/>
          <p:nvPr/>
        </p:nvSpPr>
        <p:spPr>
          <a:xfrm>
            <a:off x="11722608" y="12019229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 158"/>
          <p:cNvSpPr/>
          <p:nvPr/>
        </p:nvSpPr>
        <p:spPr>
          <a:xfrm>
            <a:off x="12600432" y="12019229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Latency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Shape 159"/>
          <p:cNvSpPr/>
          <p:nvPr/>
        </p:nvSpPr>
        <p:spPr>
          <a:xfrm>
            <a:off x="7662672" y="12293549"/>
            <a:ext cx="6949440" cy="384048"/>
          </a:xfrm>
          <a:prstGeom prst="rect">
            <a:avLst/>
          </a:prstGeom>
          <a:solidFill>
            <a:srgbClr val="E8F0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Text 160"/>
          <p:cNvSpPr/>
          <p:nvPr/>
        </p:nvSpPr>
        <p:spPr>
          <a:xfrm>
            <a:off x="7699248" y="12366701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Model (Proposed)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Text 161"/>
          <p:cNvSpPr/>
          <p:nvPr/>
        </p:nvSpPr>
        <p:spPr>
          <a:xfrm>
            <a:off x="10076688" y="12366701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6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AI-Generated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Text 162"/>
          <p:cNvSpPr/>
          <p:nvPr/>
        </p:nvSpPr>
        <p:spPr>
          <a:xfrm>
            <a:off x="11722608" y="12366701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6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100%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 163"/>
          <p:cNvSpPr/>
          <p:nvPr/>
        </p:nvSpPr>
        <p:spPr>
          <a:xfrm>
            <a:off x="12600432" y="12366701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B6B4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142 ms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Shape 164"/>
          <p:cNvSpPr/>
          <p:nvPr/>
        </p:nvSpPr>
        <p:spPr>
          <a:xfrm>
            <a:off x="7662672" y="12695885"/>
            <a:ext cx="6949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 165"/>
          <p:cNvSpPr/>
          <p:nvPr/>
        </p:nvSpPr>
        <p:spPr>
          <a:xfrm>
            <a:off x="7699248" y="12769037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or Not (Commercial)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 166"/>
          <p:cNvSpPr/>
          <p:nvPr/>
        </p:nvSpPr>
        <p:spPr>
          <a:xfrm>
            <a:off x="10076688" y="12769037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C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Likely REAL ✗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Text 167"/>
          <p:cNvSpPr/>
          <p:nvPr/>
        </p:nvSpPr>
        <p:spPr>
          <a:xfrm>
            <a:off x="11722608" y="12769037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777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Text 168"/>
          <p:cNvSpPr/>
          <p:nvPr/>
        </p:nvSpPr>
        <p:spPr>
          <a:xfrm>
            <a:off x="12600432" y="12769037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777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920 ms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Shape 169"/>
          <p:cNvSpPr/>
          <p:nvPr/>
        </p:nvSpPr>
        <p:spPr>
          <a:xfrm>
            <a:off x="7662672" y="13098221"/>
            <a:ext cx="6949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 170"/>
          <p:cNvSpPr/>
          <p:nvPr/>
        </p:nvSpPr>
        <p:spPr>
          <a:xfrm>
            <a:off x="7699248" y="13171373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Undetectable AI (Comm.)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Text 171"/>
          <p:cNvSpPr/>
          <p:nvPr/>
        </p:nvSpPr>
        <p:spPr>
          <a:xfrm>
            <a:off x="10076688" y="13171373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C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98% REAL ✗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Text 172"/>
          <p:cNvSpPr/>
          <p:nvPr/>
        </p:nvSpPr>
        <p:spPr>
          <a:xfrm>
            <a:off x="11722608" y="13171373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777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Text 173"/>
          <p:cNvSpPr/>
          <p:nvPr/>
        </p:nvSpPr>
        <p:spPr>
          <a:xfrm>
            <a:off x="12600432" y="13171373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777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5,230 ms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Shape 174"/>
          <p:cNvSpPr/>
          <p:nvPr/>
        </p:nvSpPr>
        <p:spPr>
          <a:xfrm>
            <a:off x="7603744" y="13765733"/>
            <a:ext cx="231648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Text 175"/>
          <p:cNvSpPr/>
          <p:nvPr/>
        </p:nvSpPr>
        <p:spPr>
          <a:xfrm>
            <a:off x="7603744" y="13802309"/>
            <a:ext cx="231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6.5×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Text 176"/>
          <p:cNvSpPr/>
          <p:nvPr/>
        </p:nvSpPr>
        <p:spPr>
          <a:xfrm>
            <a:off x="7603744" y="14204645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than AI or Not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Shape 177"/>
          <p:cNvSpPr/>
          <p:nvPr/>
        </p:nvSpPr>
        <p:spPr>
          <a:xfrm>
            <a:off x="9956800" y="13765733"/>
            <a:ext cx="231648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Text 178"/>
          <p:cNvSpPr/>
          <p:nvPr/>
        </p:nvSpPr>
        <p:spPr>
          <a:xfrm>
            <a:off x="9956800" y="13802309"/>
            <a:ext cx="231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36.7×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Text 179"/>
          <p:cNvSpPr/>
          <p:nvPr/>
        </p:nvSpPr>
        <p:spPr>
          <a:xfrm>
            <a:off x="9956800" y="14204645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Faster than Undetectable AI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Shape 180"/>
          <p:cNvSpPr/>
          <p:nvPr/>
        </p:nvSpPr>
        <p:spPr>
          <a:xfrm>
            <a:off x="12309856" y="13765733"/>
            <a:ext cx="231648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Text 181"/>
          <p:cNvSpPr/>
          <p:nvPr/>
        </p:nvSpPr>
        <p:spPr>
          <a:xfrm>
            <a:off x="12309856" y="13802309"/>
            <a:ext cx="231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06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~7 img/s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Text 182"/>
          <p:cNvSpPr/>
          <p:nvPr/>
        </p:nvSpPr>
        <p:spPr>
          <a:xfrm>
            <a:off x="12309856" y="14204645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throughput on CPU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Text 183"/>
          <p:cNvSpPr/>
          <p:nvPr/>
        </p:nvSpPr>
        <p:spPr>
          <a:xfrm>
            <a:off x="7610647" y="14710833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 / Summary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Shape 184"/>
          <p:cNvSpPr/>
          <p:nvPr/>
        </p:nvSpPr>
        <p:spPr>
          <a:xfrm>
            <a:off x="7610646" y="15168033"/>
            <a:ext cx="7131989" cy="2395728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 185"/>
          <p:cNvSpPr/>
          <p:nvPr/>
        </p:nvSpPr>
        <p:spPr>
          <a:xfrm>
            <a:off x="7738663" y="15277761"/>
            <a:ext cx="6967728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■ 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first hybrid architecture combining a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SigLIP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2 vision encoder (text encoder removed) with seven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tradional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algorithm signals for binary AI image detection. Achieves 96.6% accuracy and 0.992 AUC-ROC.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Significantly faster than ensemble models in matching the accuracy of the ensemble models. 
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■ 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model operates at 142 ms per image on GPU — a 6.5× and 36.7× speed advantage over commercial tools AI or Not and Undetectable AI. On hard-negative synthetic images that both commercial tools misclassify as real, the proposed model correctly identifies them as AI-generated with 100% confidence.
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■ 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Deployed as an open Hugging Face Spaces application for accessible real-time image verification.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Text 186"/>
          <p:cNvSpPr/>
          <p:nvPr/>
        </p:nvSpPr>
        <p:spPr>
          <a:xfrm>
            <a:off x="7557294" y="17697348"/>
            <a:ext cx="290588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Contact Details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Text 187"/>
          <p:cNvSpPr/>
          <p:nvPr/>
        </p:nvSpPr>
        <p:spPr>
          <a:xfrm>
            <a:off x="7626096" y="18319319"/>
            <a:ext cx="2837084" cy="2125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arunkumar.m2024a@vitstudent.ac.in</a:t>
            </a:r>
          </a:p>
          <a:p>
            <a:pPr marL="0" indent="0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Text 188"/>
          <p:cNvSpPr/>
          <p:nvPr/>
        </p:nvSpPr>
        <p:spPr>
          <a:xfrm>
            <a:off x="7565136" y="18620055"/>
            <a:ext cx="7059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Shape 189"/>
          <p:cNvSpPr/>
          <p:nvPr/>
        </p:nvSpPr>
        <p:spPr>
          <a:xfrm>
            <a:off x="7626096" y="19074384"/>
            <a:ext cx="7116538" cy="1672442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Text 190"/>
          <p:cNvSpPr/>
          <p:nvPr/>
        </p:nvSpPr>
        <p:spPr>
          <a:xfrm>
            <a:off x="7662672" y="19104941"/>
            <a:ext cx="6967728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M. Tschannen et al. "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SigLIP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2: Multilingual VL Encoders with Improved Semantic Understanding.", 2025
 2. Z. Li et al. "Is AI Generated Image Detection a Solved Problem?", 2025 
 3. H. Liu et al. "Forgery-aware Adaptive Transformer for Generalizable Synthetic Image Detection." CVPR, 2024 
 4. S. Ren et al. "How well are open sourced AI-generated image detection models out-of-the-box: A comprehensive benchmark study.", 2026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Shape 184">
            <a:extLst>
              <a:ext uri="{FF2B5EF4-FFF2-40B4-BE49-F238E27FC236}">
                <a16:creationId xmlns:a16="http://schemas.microsoft.com/office/drawing/2014/main" id="{4C406569-27FD-DD4A-75D0-DD7E80804DB0}"/>
              </a:ext>
            </a:extLst>
          </p:cNvPr>
          <p:cNvSpPr/>
          <p:nvPr/>
        </p:nvSpPr>
        <p:spPr>
          <a:xfrm>
            <a:off x="7610647" y="18129502"/>
            <a:ext cx="7131988" cy="402337"/>
          </a:xfrm>
          <a:prstGeom prst="rect">
            <a:avLst/>
          </a:prstGeom>
          <a:ln w="15875">
            <a:solidFill>
              <a:srgbClr val="2D4E6B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23B67C2-DEA3-BEFB-8832-9EC3BBC7AB2A}"/>
              </a:ext>
            </a:extLst>
          </p:cNvPr>
          <p:cNvSpPr txBox="1"/>
          <p:nvPr/>
        </p:nvSpPr>
        <p:spPr>
          <a:xfrm>
            <a:off x="2841752" y="12843302"/>
            <a:ext cx="297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IN" sz="2000" dirty="0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905F5FAA-4115-E796-F481-0EBE55FE5682}"/>
              </a:ext>
            </a:extLst>
          </p:cNvPr>
          <p:cNvSpPr txBox="1"/>
          <p:nvPr/>
        </p:nvSpPr>
        <p:spPr>
          <a:xfrm>
            <a:off x="4399994" y="12836417"/>
            <a:ext cx="297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IN" sz="2000" dirty="0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B5DA709-7E73-4272-C9C4-2D04514F7086}"/>
              </a:ext>
            </a:extLst>
          </p:cNvPr>
          <p:cNvSpPr txBox="1"/>
          <p:nvPr/>
        </p:nvSpPr>
        <p:spPr>
          <a:xfrm>
            <a:off x="3795666" y="13537863"/>
            <a:ext cx="2971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IN" sz="24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3CBB4B9-CBA7-EC74-CBF6-CA3056436B87}"/>
              </a:ext>
            </a:extLst>
          </p:cNvPr>
          <p:cNvSpPr txBox="1"/>
          <p:nvPr/>
        </p:nvSpPr>
        <p:spPr>
          <a:xfrm>
            <a:off x="3790442" y="14673834"/>
            <a:ext cx="297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I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1185</Words>
  <Application>Microsoft Office PowerPoint</Application>
  <PresentationFormat>Custom</PresentationFormat>
  <Paragraphs>141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Arun Kumar</cp:lastModifiedBy>
  <cp:revision>46</cp:revision>
  <dcterms:created xsi:type="dcterms:W3CDTF">2026-04-03T12:04:44Z</dcterms:created>
  <dcterms:modified xsi:type="dcterms:W3CDTF">2026-04-04T08:00:30Z</dcterms:modified>
</cp:coreProperties>
</file>