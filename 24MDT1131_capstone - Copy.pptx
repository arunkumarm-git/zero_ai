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14" r:id="rId2"/>
    <p:sldId id="289" r:id="rId3"/>
    <p:sldId id="309" r:id="rId4"/>
    <p:sldId id="290" r:id="rId5"/>
    <p:sldId id="320" r:id="rId6"/>
    <p:sldId id="292" r:id="rId7"/>
    <p:sldId id="324" r:id="rId8"/>
    <p:sldId id="316" r:id="rId9"/>
    <p:sldId id="315" r:id="rId10"/>
    <p:sldId id="318" r:id="rId11"/>
    <p:sldId id="319" r:id="rId12"/>
    <p:sldId id="322" r:id="rId13"/>
    <p:sldId id="323" r:id="rId14"/>
    <p:sldId id="31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D2D8"/>
    <a:srgbClr val="E7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-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E1A5C-63CC-4B81-BC5D-FCD3C53DA66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B6753-B90E-47C5-BDE1-B2E5BDD65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744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03E3E-A18C-10B6-6EE5-0C7FD81C7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A9D28-4873-A26B-31B3-04BAE775A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56BF4-C52B-FEB4-CF9B-57F3C1F1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9B49-58A5-4779-BD08-7737DC1A7437}" type="datetime1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122B1-E1C0-544F-302F-B24157A50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C6995-E4F1-94AE-1B58-940FBE8D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994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15753-1A66-37CE-E172-80FB9E61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F1414-BD74-0676-4974-B008F7B36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F4C93-18F0-24E4-3E95-57A3BB7DF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B7DC-4859-4061-AEBB-2F763E80141A}" type="datetime1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50CC6-B4BD-92AC-5C30-75FFA0A4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B1EAB-3948-73E9-1557-D9382BFE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69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A4E86-51B4-8C62-EA2A-D5D2DDFC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AB871-5755-A293-444E-3129044B5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05768-265C-0F89-351D-CEE4399C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DBB83-A0BD-4B3A-9CD8-E50C74748531}" type="datetime1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AA9EE-E83D-87EE-7B3F-F425B667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F9348-178E-4311-078C-1ADD0D15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428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38032-C9BB-5D43-A9AE-48B192118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C5C6F-87EA-30E2-1AA7-32D331935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680BC-E169-E345-857E-40B29064E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4871C-8B82-6709-A7C6-CD36A433F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BFCE-9323-499A-A54A-366EE2F139B1}" type="datetime1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34E55-BFAE-7B94-B52E-0A7F7DBF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F6DBA-3A53-25F6-C876-7D6FA971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255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C82E-0837-9CD3-CFAD-26DC1F34A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97DBA-AC9B-B5CC-A49D-ADC7D26ED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DDE27-0E08-7309-E5F1-EFE115F99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D7DF55-036A-3DCF-DAE5-B32256B9E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2DFD6-7494-2669-3BB3-3E73E7FC96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BD284-B920-6ED6-5CEC-5097D46F6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68E0-51E5-4DCE-A315-94E223EF880C}" type="datetime1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4C1D9-E31E-1DF6-6571-E4980BC1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E06FC2-21D3-A748-2BDB-CB154C741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045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7B58-9B39-E353-A516-1307966DB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5CDD9-67AC-E056-6BC5-18BB2F2E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40AC-FFE0-4BCA-BA5F-56B7856644F3}" type="datetime1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D5FA3C-9936-7C9F-3722-F033EEA8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DB5ED-0AEA-105C-4238-DB79CC81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338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058D3-86EC-15B3-B6E5-84EDF413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EFBA-3C4F-4737-BA9D-1ACE9DCC00DC}" type="datetime1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E8A7E8-886D-439B-CC9E-FA3971851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E7F18-C5D3-09A2-138D-B5E37DE6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30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7240A-829E-7007-E126-58753406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2AC7A-2681-88D3-303B-58C5458DE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EA4E4-2D55-B948-D5C6-AA97D2C5D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71481-97B3-16E6-F7D1-608E1232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CBC0-11C0-4C33-8040-87A1B99FEFC4}" type="datetime1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E0748-9DAE-3FFC-3A4B-00A49CB01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0DEC1-D0FC-3E35-CDA3-84595DA8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70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B0243-8192-9635-81C9-E9B34C103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164614-C9F9-A3AD-CF6E-8FE9EF78CE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BAE0B-599A-0ED1-9D0F-C7E39C776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0114E-D888-3763-96F5-5219CB76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49517-6C9A-43A0-A8D4-CBFDEB5F3734}" type="datetime1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DA400-C1F5-60C2-C1C6-329443F5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19ECE-442F-06BC-E39F-AC83CFA23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06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BF10-D060-1224-5804-C072EA2E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D9479-42A1-B15B-6337-06128E77D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DE328-C417-49E1-0357-2075709AA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6AE0-C3C4-4CC1-9FAC-35F423F23E67}" type="datetime1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5293E-82FA-B55C-E4D9-E3910BF6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1349B-FFB6-57DA-3E85-A67D779B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4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198B52-A661-02DC-F41C-7EAE62D9C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6F086-5371-F5A5-9172-AABFBAD80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4C7F5-B164-D012-163C-A386E24A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2F671-4BCA-485D-AE8E-8BDE9E44677B}" type="datetime1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F83A8-EC39-C63B-DD56-FB003D7B7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96B2-6EA7-0E32-9092-50BCD391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956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802FD-D537-6FEE-8331-C6BC8B01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81839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55538-07E8-C9DF-B659-C70CDDAF1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373CE-23B6-5C17-D4E8-4F500F52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3058" y="6365165"/>
            <a:ext cx="2743200" cy="365125"/>
          </a:xfrm>
        </p:spPr>
        <p:txBody>
          <a:bodyPr/>
          <a:lstStyle/>
          <a:p>
            <a:fld id="{22D55722-B948-4507-9DE5-A823ACCED0A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09B0AB-FA02-8FA5-B489-F7CF0459DF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784" y="0"/>
            <a:ext cx="785474" cy="81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70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FCD7FC-D58D-E2B8-ECF2-0C7840158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BBAD4-4BD9-E84B-6EB7-CEE952F6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B7FCD-4C4B-9F17-E478-E15030897C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E7F4F-DA19-4FA8-AC12-627B597C8CD6}" type="datetime1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D59A7-EE38-B2C1-554B-03C0A45E8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19D47-C26F-4F63-AFA9-C6C385358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53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281/zenodo.18106890" TargetMode="External"/><Relationship Id="rId2" Type="http://schemas.openxmlformats.org/officeDocument/2006/relationships/hyperlink" Target="https://doi.org/10.48550/arXiv.2411.19417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i.org/10.48550/arXiv.2312.16649" TargetMode="External"/><Relationship Id="rId5" Type="http://schemas.openxmlformats.org/officeDocument/2006/relationships/hyperlink" Target="https://doi.org/10.48550/arXiv.2502.14786" TargetMode="External"/><Relationship Id="rId4" Type="http://schemas.openxmlformats.org/officeDocument/2006/relationships/hyperlink" Target="https://ceur-ws.org/Vol-4038/paper_331.pdf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web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ack and white logo&#10;&#10;Description automatically generated">
            <a:extLst>
              <a:ext uri="{FF2B5EF4-FFF2-40B4-BE49-F238E27FC236}">
                <a16:creationId xmlns:a16="http://schemas.microsoft.com/office/drawing/2014/main" id="{F4567714-80C2-EEBB-0832-8FEAD70F32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804" y="-1020764"/>
            <a:ext cx="5775799" cy="39917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80B774-B042-CE9F-3A92-77B16D21FAAC}"/>
              </a:ext>
            </a:extLst>
          </p:cNvPr>
          <p:cNvSpPr txBox="1"/>
          <p:nvPr/>
        </p:nvSpPr>
        <p:spPr>
          <a:xfrm>
            <a:off x="0" y="1690418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Filtration of Synthetic Media in Content Sharing Platforms Using Multiple Models</a:t>
            </a:r>
            <a:endParaRPr lang="en-IN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AE839C-226E-24E5-3381-9E05B3F6F89D}"/>
              </a:ext>
            </a:extLst>
          </p:cNvPr>
          <p:cNvSpPr txBox="1"/>
          <p:nvPr/>
        </p:nvSpPr>
        <p:spPr>
          <a:xfrm>
            <a:off x="4204335" y="3013857"/>
            <a:ext cx="3783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Arun Kumar M(24MDT1131)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284AC1-9412-0FC5-4C62-D94739B7BA97}"/>
              </a:ext>
            </a:extLst>
          </p:cNvPr>
          <p:cNvSpPr txBox="1"/>
          <p:nvPr/>
        </p:nvSpPr>
        <p:spPr>
          <a:xfrm>
            <a:off x="996696" y="3844144"/>
            <a:ext cx="9838943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/>
              <a:t>Under the guidance of </a:t>
            </a:r>
          </a:p>
          <a:p>
            <a:pPr algn="ctr"/>
            <a:r>
              <a:rPr lang="en-US" sz="3200" b="1" dirty="0"/>
              <a:t>Dr. Hannah Grace G</a:t>
            </a:r>
            <a:endParaRPr lang="en-IN" sz="3200" b="1" dirty="0"/>
          </a:p>
          <a:p>
            <a:pPr algn="ctr"/>
            <a:r>
              <a:rPr lang="en-IN" sz="3000" dirty="0"/>
              <a:t>Department of Mathematics</a:t>
            </a:r>
          </a:p>
          <a:p>
            <a:pPr algn="ctr"/>
            <a:r>
              <a:rPr lang="en-IN" sz="3000" dirty="0"/>
              <a:t>School of Advanced Sciences</a:t>
            </a:r>
          </a:p>
          <a:p>
            <a:pPr algn="ctr"/>
            <a:r>
              <a:rPr lang="en-IN" sz="3000" dirty="0"/>
              <a:t>Vellore Institute of Technology Chennai</a:t>
            </a:r>
          </a:p>
        </p:txBody>
      </p:sp>
    </p:spTree>
    <p:extLst>
      <p:ext uri="{BB962C8B-B14F-4D97-AF65-F5344CB8AC3E}">
        <p14:creationId xmlns:p14="http://schemas.microsoft.com/office/powerpoint/2010/main" val="1090162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ines and dots connected representing a network">
            <a:extLst>
              <a:ext uri="{FF2B5EF4-FFF2-40B4-BE49-F238E27FC236}">
                <a16:creationId xmlns:a16="http://schemas.microsoft.com/office/drawing/2014/main" id="{77862625-DD47-8C42-B06B-06CBE58273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" y="9144"/>
            <a:ext cx="1219135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342F39-AE3D-6FD0-E139-5C3C46FCB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12" y="-54596"/>
            <a:ext cx="9681839" cy="1057883"/>
          </a:xfrm>
        </p:spPr>
        <p:txBody>
          <a:bodyPr/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8D869-3BF0-130C-1FC7-14A4EEB78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966EE-F561-8FC7-99BD-5F554655352E}"/>
              </a:ext>
            </a:extLst>
          </p:cNvPr>
          <p:cNvSpPr txBox="1"/>
          <p:nvPr/>
        </p:nvSpPr>
        <p:spPr>
          <a:xfrm>
            <a:off x="925830" y="820980"/>
            <a:ext cx="723061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Problem Statement</a:t>
            </a:r>
            <a:br>
              <a:rPr lang="en-US" dirty="0"/>
            </a:b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Aim and Objective</a:t>
            </a:r>
            <a:br>
              <a:rPr lang="en-US" dirty="0"/>
            </a:b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Literature Reviews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Workflow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Data Collection &amp; Preparation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IN" dirty="0"/>
              <a:t>EXIF Layer: Automated Metadata Filtering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Multi-Model AI Classification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GUI of AI Text Classification model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Future Scope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3904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16B1C-22E4-8264-64D7-D02C84691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2D11A-6791-9509-4D66-AE1B500E0F28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The rapid advancement of AI image generators has made it exceedingly difficult to reliably distinguish between real and synthetic images.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/>
              <a:t>Existing single-model classifiers standard CNNs and heavy Vision-Language Models suffer significant accuracy drops when exposed to complex, "in-the-wild" media containing heavy semantic noise, low-level forensic artifacts, text overlays, and diverse artistic styles.</a:t>
            </a:r>
            <a:endParaRPr lang="en-US" sz="20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The current industry landscape heavily relies on massive, multi-model ensembles. these ensemble models are computationally expensive, resource-intensive, and fundamentally too slow for real-time deployment.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There is an urgent need for a streamlined, single-pass classifier capable of matching the robustness and precision of heavy ensemble models to classify AI images and Real images, without the associated computational burden.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065B5E-5DCD-AEE9-B3AB-376F1BB6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2D55722-B948-4507-9DE5-A823ACCED0A6}" type="slidenum">
              <a:rPr lang="en-IN" smtClean="0"/>
              <a:pPr>
                <a:spcAft>
                  <a:spcPts val="600"/>
                </a:spcAft>
              </a:pPr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2540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lose-up of dartboard">
            <a:extLst>
              <a:ext uri="{FF2B5EF4-FFF2-40B4-BE49-F238E27FC236}">
                <a16:creationId xmlns:a16="http://schemas.microsoft.com/office/drawing/2014/main" id="{98786054-653D-B7E7-D190-2730D12C683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27"/>
            <a:ext cx="13198140" cy="72857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8D8EEA-41FE-F515-D58E-BE506C16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and Objective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0D527-638C-7868-8468-A99C0567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E0F34-4803-7A82-772F-48A50988F6E8}"/>
              </a:ext>
            </a:extLst>
          </p:cNvPr>
          <p:cNvSpPr txBox="1"/>
          <p:nvPr/>
        </p:nvSpPr>
        <p:spPr>
          <a:xfrm>
            <a:off x="915616" y="1492088"/>
            <a:ext cx="1043818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To develop an efficient, highly robust, single-pass AI image classifier based on a modified </a:t>
            </a:r>
            <a:r>
              <a:rPr lang="en-US" sz="2000" dirty="0" err="1"/>
              <a:t>SigLIP</a:t>
            </a:r>
            <a:r>
              <a:rPr lang="en-US" sz="2000" dirty="0"/>
              <a:t> 2 architecture that matches the accuracy of complex multi-model ensembles while ensuring low computational overhead and scalability for real-time deployment.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Isolate the spatial feature extraction capabilities of the </a:t>
            </a:r>
            <a:r>
              <a:rPr lang="en-US" sz="2000" dirty="0" err="1"/>
              <a:t>SigLIP</a:t>
            </a:r>
            <a:r>
              <a:rPr lang="en-US" sz="2000" dirty="0"/>
              <a:t> 2 model by intentionally removing its text-processing components, thereby drastically reducing memory footprint and inference time.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Integrate a custom weighted loss function to natively handle class imbalances within the training data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Utilize Test-Time Augmentation (TTA) to match ensemble-level accuracy and robustness in a single forward pass, providing a practical solution for real-time AI image detection.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2493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4FB4E-DF69-2C47-6152-46B440B17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lose-up of dartboard">
            <a:extLst>
              <a:ext uri="{FF2B5EF4-FFF2-40B4-BE49-F238E27FC236}">
                <a16:creationId xmlns:a16="http://schemas.microsoft.com/office/drawing/2014/main" id="{490CFD2B-1FA4-0168-DD9C-A6AC83B0CA1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861"/>
            <a:ext cx="13198140" cy="72857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EC230F-4C61-D0EB-C826-28128EB4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Gap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C1016-437F-DB92-A32E-9A9B8949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C26E-93D7-005B-1067-8887A9129F3C}"/>
              </a:ext>
            </a:extLst>
          </p:cNvPr>
          <p:cNvSpPr txBox="1"/>
          <p:nvPr/>
        </p:nvSpPr>
        <p:spPr>
          <a:xfrm>
            <a:off x="915616" y="1492088"/>
            <a:ext cx="1043818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Current AI detectors rely on older architectures CNNs and </a:t>
            </a:r>
            <a:r>
              <a:rPr lang="en-US" sz="2000" dirty="0" err="1"/>
              <a:t>ViTs</a:t>
            </a:r>
            <a:r>
              <a:rPr lang="en-US" sz="2000" dirty="0"/>
              <a:t>. A critical gap exists in utilizing the vision components of modern Vision-Language Models (VLMs). Because VLMs are trained to deeply understand image details, they are uniquely equipped to catch subtle artifacts from AI generated images.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No model deeply tested on hard negatives images.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achieve state-of-the-art robustness, the industry currently resorts to computationally massive, high-latency ensembles.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There is a critical gap for streamlined, single-pass architectures that can match this robustness while operating efficiently enough for real-time web deployment.</a:t>
            </a:r>
          </a:p>
        </p:txBody>
      </p:sp>
    </p:spTree>
    <p:extLst>
      <p:ext uri="{BB962C8B-B14F-4D97-AF65-F5344CB8AC3E}">
        <p14:creationId xmlns:p14="http://schemas.microsoft.com/office/powerpoint/2010/main" val="315497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6B96-7726-741A-E8F9-6E7089FE5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D0F32-ED65-E33A-4449-367AFFE5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E557D9-F0B4-25F4-CE51-325F9484E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166792"/>
              </p:ext>
            </p:extLst>
          </p:nvPr>
        </p:nvGraphicFramePr>
        <p:xfrm>
          <a:off x="566528" y="1371600"/>
          <a:ext cx="10993588" cy="47409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760">
                  <a:extLst>
                    <a:ext uri="{9D8B030D-6E8A-4147-A177-3AD203B41FA5}">
                      <a16:colId xmlns:a16="http://schemas.microsoft.com/office/drawing/2014/main" val="531022180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62034363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3735070113"/>
                    </a:ext>
                  </a:extLst>
                </a:gridCol>
                <a:gridCol w="1914247">
                  <a:extLst>
                    <a:ext uri="{9D8B030D-6E8A-4147-A177-3AD203B41FA5}">
                      <a16:colId xmlns:a16="http://schemas.microsoft.com/office/drawing/2014/main" val="1937056392"/>
                    </a:ext>
                  </a:extLst>
                </a:gridCol>
                <a:gridCol w="4305773">
                  <a:extLst>
                    <a:ext uri="{9D8B030D-6E8A-4147-A177-3AD203B41FA5}">
                      <a16:colId xmlns:a16="http://schemas.microsoft.com/office/drawing/2014/main" val="2355849253"/>
                    </a:ext>
                  </a:extLst>
                </a:gridCol>
              </a:tblGrid>
              <a:tr h="318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/>
                        <a:t>S.No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Author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Title / Journal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Dataset Used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Key Contribution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758694"/>
                  </a:ext>
                </a:extLst>
              </a:tr>
              <a:tr h="781391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Ziqiang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Jiazhen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Yan et al.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 Artificial Intelligence Generated Image Detection a Solved Problem?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arXiv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2025) 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AIGIBench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(a benchmark comprising 23 diverse subsets of fake images, alongside real images sampled from FFHQ,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CelebA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-HQ, and Open Images V7).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Introduces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AIGIBench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evaluate the robustness and generalization of 11 advanced detectors </a:t>
                      </a:r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across multi-source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generalization, image degradation, data augmentation, </a:t>
                      </a:r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 pre-processing,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revealing significant performance drops on real-world data and highlighting vulnerabilities to perturbations like JPEG compression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38551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Simiao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Ren, Yuchen Zhou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well are open sourced AI-generated image detection models out-of-the-box: A comprehensive benchmark study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arXiv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GenImage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AIGCDetectionBench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WildFake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OpenFake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Diffusion 1kstep,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SynthBuster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Presents the first comprehensive zero-shot evaluation of 16 state-of-the-art detection methods, demonstrating massive performance gaps, ranking instability, and the dominance of training data alignment over architecture.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58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it-IT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Alan Perotti, Marco Nurisso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et al.</a:t>
                      </a:r>
                      <a:endParaRPr lang="it-IT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Detector to Rule Them All</a:t>
                      </a:r>
                    </a:p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(ACM Multimedia 2025)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COCO, ImageNet,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celeba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dirty="0"/>
                        <a:t>Benchmarked open-source deepfake detectors, showing poor cross-model generalization, and demonstrated that ensemble methods with latent feature fusion achieve state-of-the-art robustness over single binary classifiers.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395115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95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B8FBB-597B-CA5B-D550-145AA857D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A978D-C37A-51A1-E22E-B56EC0418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Reviews </a:t>
            </a:r>
            <a:r>
              <a:rPr lang="en-IN" dirty="0"/>
              <a:t>(contd.)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442FF-2976-ACFF-3BF0-9AAD320F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49098D-7AD3-DBDA-19D6-764CD06C7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32739"/>
              </p:ext>
            </p:extLst>
          </p:nvPr>
        </p:nvGraphicFramePr>
        <p:xfrm>
          <a:off x="566528" y="1371600"/>
          <a:ext cx="10993588" cy="52561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6472">
                  <a:extLst>
                    <a:ext uri="{9D8B030D-6E8A-4147-A177-3AD203B41FA5}">
                      <a16:colId xmlns:a16="http://schemas.microsoft.com/office/drawing/2014/main" val="531022180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62034363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3735070113"/>
                    </a:ext>
                  </a:extLst>
                </a:gridCol>
                <a:gridCol w="1575919">
                  <a:extLst>
                    <a:ext uri="{9D8B030D-6E8A-4147-A177-3AD203B41FA5}">
                      <a16:colId xmlns:a16="http://schemas.microsoft.com/office/drawing/2014/main" val="1937056392"/>
                    </a:ext>
                  </a:extLst>
                </a:gridCol>
                <a:gridCol w="4305773">
                  <a:extLst>
                    <a:ext uri="{9D8B030D-6E8A-4147-A177-3AD203B41FA5}">
                      <a16:colId xmlns:a16="http://schemas.microsoft.com/office/drawing/2014/main" val="2355849253"/>
                    </a:ext>
                  </a:extLst>
                </a:gridCol>
              </a:tblGrid>
              <a:tr h="318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/>
                        <a:t>S.No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Author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Title / Journal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Dataset Used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Key Contribution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758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Bilva Chandra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Analyzing Harms from AI-Generated Images and Safeguarding Online Authenticity (RAND 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LAION-5B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Outlines safety harms misinformation from AI image generators and evaluates industry solutions for content authenticity, proposing policy measures like NIST standards and FTC actions.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735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Michael Tschannen </a:t>
                      </a:r>
                    </a:p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SigLIP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2: Multilingual Vision-Language Encoders with Improved Semantic Understanding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arXiv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WebLI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10B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Introduces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SigLIP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 with pairwise sigmoid loss and "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NaFlex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 resolution handling, providing the dense feature extraction necessary for visual forensics.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12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Huan Liu,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Zichang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Tan</a:t>
                      </a:r>
                    </a:p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 al.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Forgery-aware Adaptive Transformer for Generalizable Synthetic Image Detection (CVPR 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ProGAN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Introduced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FatFormer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a novel forgery-aware adaptive transformer that builds on the pre-trained vision-language spaces of CLIP. It demonstrated strong robustness, achieving 98% average accuracy on unseen GANs and 95% on unseen diffusion models.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545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Harshit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Deepfake Detection using Efficientnet-B0 and GRU (IJERT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FaceForensics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Demonstrates a streamlined hybrid architecture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EfficientNet+GRU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for real-time detection, emphasizing computational efficiency for web deployment.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817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Geeta Rani, Atharv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Kothekar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Lightweight and hybrid transformer-based solution for quick and reliable deepfake detection (Frontiers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Celeb DF-v2,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iBUG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300-W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Proposes a hybrid architecture combining Vision Transformer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ViT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and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Linformer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models for deepfake video detection, which significantly reduces execution time and computational overhead while achieving a high detection accuracy of 98.9%.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873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625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E1888-E163-5880-B2DF-CCA8475E3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Workflow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72FBB4-E050-D972-3E75-1BAABF4C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2D55722-B948-4507-9DE5-A823ACCED0A6}" type="slidenum">
              <a:rPr lang="en-IN" smtClean="0"/>
              <a:pPr>
                <a:spcAft>
                  <a:spcPts val="600"/>
                </a:spcAft>
              </a:pPr>
              <a:t>8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F733B5-1376-EB0C-F451-0DCDEA1150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784" y="0"/>
            <a:ext cx="785474" cy="8160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C3B4D0-7D5D-18A2-06A7-EA8265D16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243" y="816077"/>
            <a:ext cx="9619541" cy="587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20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38FAD-FB1D-8536-685B-148290DFB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IN" dirty="0"/>
              <a:t>Data Collection &amp; Preparation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CA5AA-76EE-227E-8DF8-24C6FA606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2D55722-B948-4507-9DE5-A823ACCED0A6}" type="slidenum">
              <a:rPr lang="en-IN" smtClean="0"/>
              <a:pPr>
                <a:spcAft>
                  <a:spcPts val="600"/>
                </a:spcAft>
              </a:pPr>
              <a:t>9</a:t>
            </a:fld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B6F360-FC48-2BF8-DEA4-35885B9FD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438666"/>
              </p:ext>
            </p:extLst>
          </p:nvPr>
        </p:nvGraphicFramePr>
        <p:xfrm>
          <a:off x="838200" y="1744600"/>
          <a:ext cx="7722679" cy="20338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5283">
                  <a:extLst>
                    <a:ext uri="{9D8B030D-6E8A-4147-A177-3AD203B41FA5}">
                      <a16:colId xmlns:a16="http://schemas.microsoft.com/office/drawing/2014/main" val="917413705"/>
                    </a:ext>
                  </a:extLst>
                </a:gridCol>
                <a:gridCol w="2476242">
                  <a:extLst>
                    <a:ext uri="{9D8B030D-6E8A-4147-A177-3AD203B41FA5}">
                      <a16:colId xmlns:a16="http://schemas.microsoft.com/office/drawing/2014/main" val="1319171083"/>
                    </a:ext>
                  </a:extLst>
                </a:gridCol>
                <a:gridCol w="3881154">
                  <a:extLst>
                    <a:ext uri="{9D8B030D-6E8A-4147-A177-3AD203B41FA5}">
                      <a16:colId xmlns:a16="http://schemas.microsoft.com/office/drawing/2014/main" val="3873116350"/>
                    </a:ext>
                  </a:extLst>
                </a:gridCol>
              </a:tblGrid>
              <a:tr h="486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Data types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Source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Volume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0259110"/>
                  </a:ext>
                </a:extLst>
              </a:tr>
              <a:tr h="1547492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I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mage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Reddit, Discord, Sora gallery, ideogram explorer, Kaggle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4k real images and 4k AI images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98520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E7ED1E2-C36B-01C4-6ECE-160E859CE7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784" y="0"/>
            <a:ext cx="785474" cy="81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464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DB467-BB2D-F9C2-F24F-AB4A1245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EXIF Layer: Automated Metadata Filtering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9601E8-7399-4B84-E469-35BF90B7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77B802-B148-A77D-3032-C1D9F78E64E7}"/>
              </a:ext>
            </a:extLst>
          </p:cNvPr>
          <p:cNvSpPr txBox="1"/>
          <p:nvPr/>
        </p:nvSpPr>
        <p:spPr>
          <a:xfrm>
            <a:off x="838200" y="1874728"/>
            <a:ext cx="1012850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system instantly extracts hidden technical data (EXIF) from uploads, revealing details like software used, creation date, and device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Files identified as synthetic here are rejected instantly, saving processing power by preventing them from reaching the complex deep learning models.</a:t>
            </a:r>
          </a:p>
        </p:txBody>
      </p:sp>
    </p:spTree>
    <p:extLst>
      <p:ext uri="{BB962C8B-B14F-4D97-AF65-F5344CB8AC3E}">
        <p14:creationId xmlns:p14="http://schemas.microsoft.com/office/powerpoint/2010/main" val="3345216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DB467-BB2D-F9C2-F24F-AB4A1245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Multi-Model AI Classification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9601E8-7399-4B84-E469-35BF90B7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77B802-B148-A77D-3032-C1D9F78E64E7}"/>
              </a:ext>
            </a:extLst>
          </p:cNvPr>
          <p:cNvSpPr txBox="1"/>
          <p:nvPr/>
        </p:nvSpPr>
        <p:spPr>
          <a:xfrm>
            <a:off x="853440" y="1690688"/>
            <a:ext cx="1012850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Distilled </a:t>
            </a:r>
            <a:r>
              <a:rPr lang="en-IN" sz="2000" b="1" dirty="0" err="1"/>
              <a:t>DeBERTa</a:t>
            </a:r>
            <a:r>
              <a:rPr lang="en-IN" sz="2000" b="1" dirty="0"/>
              <a:t>: </a:t>
            </a:r>
            <a:r>
              <a:rPr lang="en-IN" sz="2000" dirty="0"/>
              <a:t>Textual content is </a:t>
            </a:r>
            <a:r>
              <a:rPr lang="en-IN" sz="2000" dirty="0" err="1"/>
              <a:t>analyzed</a:t>
            </a:r>
            <a:r>
              <a:rPr lang="en-IN" sz="2000" dirty="0"/>
              <a:t> by a </a:t>
            </a:r>
            <a:r>
              <a:rPr lang="en-IN" sz="2000" b="1" dirty="0"/>
              <a:t>Distilled </a:t>
            </a:r>
            <a:r>
              <a:rPr lang="en-IN" sz="2000" b="1" dirty="0" err="1"/>
              <a:t>DeBERTa</a:t>
            </a:r>
            <a:r>
              <a:rPr lang="en-IN" sz="2000" b="1" dirty="0"/>
              <a:t> classifier</a:t>
            </a:r>
            <a:r>
              <a:rPr lang="en-IN" sz="2000" dirty="0"/>
              <a:t> optimized using </a:t>
            </a:r>
            <a:r>
              <a:rPr lang="en-IN" sz="2000" b="1" dirty="0"/>
              <a:t>Llama 3-8B</a:t>
            </a:r>
            <a:r>
              <a:rPr lang="en-IN" sz="2000" dirty="0"/>
              <a:t> data. This teacher-student distillation approach allows the smaller </a:t>
            </a:r>
            <a:r>
              <a:rPr lang="en-IN" sz="2000" dirty="0" err="1"/>
              <a:t>DeBERTa</a:t>
            </a:r>
            <a:r>
              <a:rPr lang="en-IN" sz="2000" dirty="0"/>
              <a:t> model to recognize the unique “patterns“ which taught by teacher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 err="1"/>
              <a:t>SigLIP</a:t>
            </a:r>
            <a:r>
              <a:rPr lang="en-IN" sz="2000" b="1" dirty="0"/>
              <a:t>:</a:t>
            </a:r>
            <a:r>
              <a:rPr lang="en-IN" sz="2000" dirty="0"/>
              <a:t> </a:t>
            </a:r>
            <a:r>
              <a:rPr lang="en-US" sz="2000" dirty="0"/>
              <a:t>The </a:t>
            </a:r>
            <a:r>
              <a:rPr lang="en-US" sz="2000" dirty="0" err="1"/>
              <a:t>SigLIP</a:t>
            </a:r>
            <a:r>
              <a:rPr lang="en-US" sz="2000" dirty="0"/>
              <a:t> (Sigmoid Loss for Language Image Pre-training) model is utilized to categorize images as either authentic human photography or generative AI media. It is particularly fine-tuned on "hard negatives“ such as memes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 err="1"/>
              <a:t>SigLIP</a:t>
            </a:r>
            <a:r>
              <a:rPr lang="en-IN" sz="2000" b="1" dirty="0"/>
              <a:t> + GRU Hybrid: </a:t>
            </a:r>
            <a:r>
              <a:rPr lang="en-US" sz="2000" dirty="0"/>
              <a:t>A hybrid deep learning architecture is employed for complex video and motion analysis. </a:t>
            </a:r>
            <a:r>
              <a:rPr lang="en-US" sz="2000" b="1" dirty="0" err="1"/>
              <a:t>SigLIP</a:t>
            </a:r>
            <a:r>
              <a:rPr lang="en-US" sz="2000" dirty="0"/>
              <a:t> serves as the </a:t>
            </a:r>
            <a:r>
              <a:rPr lang="en-US" sz="2000" b="1" dirty="0"/>
              <a:t>frame-level feature extractor</a:t>
            </a:r>
            <a:r>
              <a:rPr lang="en-US" sz="2000" dirty="0"/>
              <a:t> to identify spatial anomalies within individual images. These features are then fed into a </a:t>
            </a:r>
            <a:r>
              <a:rPr lang="en-US" sz="2000" b="1" dirty="0"/>
              <a:t>Bidirectional GRU</a:t>
            </a:r>
            <a:r>
              <a:rPr lang="en-US" sz="2000" dirty="0"/>
              <a:t> (Gated Recurrent Unit), which performs a </a:t>
            </a:r>
            <a:r>
              <a:rPr lang="en-US" sz="2000" b="1" dirty="0"/>
              <a:t>temporal sequence analysis</a:t>
            </a:r>
            <a:r>
              <a:rPr lang="en-US" sz="2000" dirty="0"/>
              <a:t> to detect motion inconsistencies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99148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95FBD-2E71-B58B-40FE-251A9466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74AF-1CA3-442E-2D4A-594F1A2D3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IN" dirty="0"/>
              <a:t>GUI of AI Text Classification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236E11-69C5-12ED-2851-3187EAA88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2D55722-B948-4507-9DE5-A823ACCED0A6}" type="slidenum">
              <a:rPr lang="en-IN" smtClean="0"/>
              <a:pPr>
                <a:spcAft>
                  <a:spcPts val="600"/>
                </a:spcAft>
              </a:pPr>
              <a:t>12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2A74FC-1E06-0D69-BB8C-5E325A74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784" y="0"/>
            <a:ext cx="785474" cy="8160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C3F024-9BD9-83F9-7928-45A12FBA2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90" y="1425052"/>
            <a:ext cx="9313147" cy="523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85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F9D92-94AB-1D19-2E8B-44F0E5FD0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7C7B6-92D8-FC57-E648-3EEB2CCA9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Explainable AI (XAI) Integration on AI classification models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Design and implement audio AI </a:t>
            </a:r>
            <a:r>
              <a:rPr lang="en-IN" dirty="0"/>
              <a:t>classification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Establish an automated feedback loop where "hard negatives" (false positives/negatives) reported by users are automatically added to the training dataset to retrain and update the models dynamically.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9B294-B7BD-4424-6C44-C7809E3CF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13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B91991-462B-2BD3-E165-B7B5FAAB55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784" y="0"/>
            <a:ext cx="785474" cy="81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71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37A8-AF61-C5F9-A5E7-9FE0E6C5E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A08FC6-7253-E18B-319C-0DE870EFD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14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5CA9F-E0CC-9D6B-B535-C43C6B6E6462}"/>
              </a:ext>
            </a:extLst>
          </p:cNvPr>
          <p:cNvSpPr txBox="1"/>
          <p:nvPr/>
        </p:nvSpPr>
        <p:spPr>
          <a:xfrm>
            <a:off x="838199" y="1385895"/>
            <a:ext cx="968183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Any-Resolution AI-Generated Image Detection by Spectral Learning (2025), Dimitrios Karageorgiou, Symeon Papadopoulos, Ioannis </a:t>
            </a:r>
            <a:r>
              <a:rPr lang="en-IN" dirty="0" err="1"/>
              <a:t>Kompatsiaris</a:t>
            </a:r>
            <a:r>
              <a:rPr lang="en-IN" dirty="0"/>
              <a:t>, Efstratios </a:t>
            </a:r>
            <a:r>
              <a:rPr lang="en-IN" dirty="0" err="1"/>
              <a:t>Gavves</a:t>
            </a:r>
            <a:r>
              <a:rPr lang="en-IN" kern="100" dirty="0">
                <a:cs typeface="Times New Roman" panose="02020603050405020304" pitchFamily="18" charset="0"/>
              </a:rPr>
              <a:t>, </a:t>
            </a:r>
            <a:r>
              <a:rPr lang="en-IN" dirty="0">
                <a:hlinkClick r:id="rId2"/>
              </a:rPr>
              <a:t>https://doi.org/10.48550/arXiv.2411.19417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Deepfake Detection using Efficientnet-B0 and GRU (2025), G. Harshit, M. Chakradhar Reddy, Y.V.S. Sarath, </a:t>
            </a:r>
            <a:r>
              <a:rPr lang="en-IN" dirty="0">
                <a:hlinkClick r:id="rId3"/>
              </a:rPr>
              <a:t>https://doi.org/10.5281/zenodo.18106890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Human-AI Collaborative Text Classification with </a:t>
            </a:r>
            <a:r>
              <a:rPr lang="en-IN" dirty="0" err="1"/>
              <a:t>DeBERTa</a:t>
            </a:r>
            <a:r>
              <a:rPr lang="en-IN" dirty="0"/>
              <a:t>-enhanced Contextual and Geometric Attention (2025), </a:t>
            </a:r>
            <a:r>
              <a:rPr lang="en-IN" dirty="0" err="1"/>
              <a:t>Tufeng</a:t>
            </a:r>
            <a:r>
              <a:rPr lang="en-IN" dirty="0"/>
              <a:t> Xian, Yong Zhong, Fen Liu, Meifang Xie, Qiyuan Sun, </a:t>
            </a:r>
            <a:r>
              <a:rPr lang="en-IN" dirty="0" err="1"/>
              <a:t>Miaoji</a:t>
            </a:r>
            <a:r>
              <a:rPr lang="en-IN" dirty="0"/>
              <a:t> Zheng, Weidong Wu, </a:t>
            </a:r>
            <a:r>
              <a:rPr lang="en-IN" dirty="0" err="1"/>
              <a:t>Zhiliang</a:t>
            </a:r>
            <a:r>
              <a:rPr lang="en-IN" dirty="0"/>
              <a:t> Zhang</a:t>
            </a:r>
            <a:r>
              <a:rPr lang="en-IN" kern="100" dirty="0">
                <a:cs typeface="Times New Roman" panose="02020603050405020304" pitchFamily="18" charset="0"/>
              </a:rPr>
              <a:t>,</a:t>
            </a:r>
            <a:r>
              <a:rPr lang="en-IN" kern="100" dirty="0"/>
              <a:t> </a:t>
            </a:r>
            <a:r>
              <a:rPr lang="en-IN" dirty="0">
                <a:hlinkClick r:id="rId4"/>
              </a:rPr>
              <a:t>https://ceur-ws.org/Vol-4038/paper_331.pdf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 err="1"/>
              <a:t>SigLIP</a:t>
            </a:r>
            <a:r>
              <a:rPr lang="en-IN" dirty="0"/>
              <a:t> 2: Multilingual Vision-Language Encoders with Improved Semantic Understanding, Localization, and Dense Features (2025), Michael Tschannen, Alexey Gritsenko, Xiao Wang, Muhammad </a:t>
            </a:r>
            <a:r>
              <a:rPr lang="en-IN" dirty="0" err="1"/>
              <a:t>Ferjad</a:t>
            </a:r>
            <a:r>
              <a:rPr lang="en-IN" dirty="0"/>
              <a:t> Naeem, Ibrahim </a:t>
            </a:r>
            <a:r>
              <a:rPr lang="en-IN" dirty="0" err="1"/>
              <a:t>Alabdulmohsin</a:t>
            </a:r>
            <a:r>
              <a:rPr lang="en-IN" kern="100" dirty="0">
                <a:cs typeface="Times New Roman" panose="02020603050405020304" pitchFamily="18" charset="0"/>
              </a:rPr>
              <a:t>,</a:t>
            </a:r>
          </a:p>
          <a:p>
            <a:r>
              <a:rPr lang="en-IN" kern="100" dirty="0">
                <a:cs typeface="Times New Roman" panose="02020603050405020304" pitchFamily="18" charset="0"/>
                <a:hlinkClick r:id="rId5"/>
              </a:rPr>
              <a:t>https://doi.org/10.48550/arXiv.2502.14786</a:t>
            </a:r>
            <a:r>
              <a:rPr lang="en-IN" kern="100" dirty="0"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  <a:p>
            <a:r>
              <a:rPr lang="en-US" dirty="0"/>
              <a:t>Forgery-aware Adaptive Transformer for Generalizable Synthetic Image Detection </a:t>
            </a:r>
            <a:r>
              <a:rPr lang="en-IN" dirty="0"/>
              <a:t>(2024), Huan Liu, </a:t>
            </a:r>
            <a:r>
              <a:rPr lang="en-IN" dirty="0" err="1"/>
              <a:t>Zichang</a:t>
            </a:r>
            <a:r>
              <a:rPr lang="en-IN" dirty="0"/>
              <a:t> Tan, </a:t>
            </a:r>
            <a:r>
              <a:rPr lang="en-IN" dirty="0" err="1"/>
              <a:t>Chuangchuang</a:t>
            </a:r>
            <a:r>
              <a:rPr lang="en-IN" dirty="0"/>
              <a:t> Tan, </a:t>
            </a:r>
            <a:r>
              <a:rPr lang="en-IN" dirty="0" err="1"/>
              <a:t>Yunchao</a:t>
            </a:r>
            <a:r>
              <a:rPr lang="en-IN" dirty="0"/>
              <a:t> Wei, Yao Zhao, </a:t>
            </a:r>
            <a:r>
              <a:rPr lang="en-IN" dirty="0" err="1"/>
              <a:t>Jingdong</a:t>
            </a:r>
            <a:r>
              <a:rPr lang="en-IN" dirty="0"/>
              <a:t> Wang</a:t>
            </a:r>
            <a:r>
              <a:rPr lang="en-IN" kern="100" dirty="0">
                <a:cs typeface="Times New Roman" panose="02020603050405020304" pitchFamily="18" charset="0"/>
              </a:rPr>
              <a:t>,</a:t>
            </a:r>
            <a:r>
              <a:rPr lang="en-IN" kern="100" dirty="0"/>
              <a:t> </a:t>
            </a:r>
            <a:r>
              <a:rPr lang="en-IN" dirty="0">
                <a:hlinkClick r:id="rId6"/>
              </a:rPr>
              <a:t>https://doi.org/10.48550/arXiv.2312.16649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9146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lose up of a network&#10;&#10;Description automatically generated">
            <a:extLst>
              <a:ext uri="{FF2B5EF4-FFF2-40B4-BE49-F238E27FC236}">
                <a16:creationId xmlns:a16="http://schemas.microsoft.com/office/drawing/2014/main" id="{56952477-0EC0-7885-576E-DCFFAA3622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5" r="10724" b="-3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A2B8AA-2A28-2841-2790-D120E44759F7}"/>
              </a:ext>
            </a:extLst>
          </p:cNvPr>
          <p:cNvSpPr txBox="1"/>
          <p:nvPr/>
        </p:nvSpPr>
        <p:spPr>
          <a:xfrm>
            <a:off x="1524000" y="1122362"/>
            <a:ext cx="9144000" cy="290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095F1E-2568-AE59-8108-2962C0DF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2D55722-B948-4507-9DE5-A823ACCED0A6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15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6A85B7-9F06-B1C4-51EC-764B4535B0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784" y="0"/>
            <a:ext cx="785474" cy="81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57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1996</TotalTime>
  <Words>1416</Words>
  <Application>Microsoft Office PowerPoint</Application>
  <PresentationFormat>Widescreen</PresentationFormat>
  <Paragraphs>153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Table of Contents</vt:lpstr>
      <vt:lpstr>Problem Statement</vt:lpstr>
      <vt:lpstr>Aim and Objective</vt:lpstr>
      <vt:lpstr>Literature Gap</vt:lpstr>
      <vt:lpstr>Literature Reviews</vt:lpstr>
      <vt:lpstr>Literature Reviews (contd.)</vt:lpstr>
      <vt:lpstr>Workflow</vt:lpstr>
      <vt:lpstr>Data Collection &amp; Preparation</vt:lpstr>
      <vt:lpstr>EXIF Layer: Automated Metadata Filtering</vt:lpstr>
      <vt:lpstr>Multi-Model AI Classification</vt:lpstr>
      <vt:lpstr>GUI of AI Text Classification model</vt:lpstr>
      <vt:lpstr>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Anandha Bhavatarini S</dc:creator>
  <cp:lastModifiedBy>Arun Kumar</cp:lastModifiedBy>
  <cp:revision>113</cp:revision>
  <dcterms:created xsi:type="dcterms:W3CDTF">2025-10-28T13:35:23Z</dcterms:created>
  <dcterms:modified xsi:type="dcterms:W3CDTF">2026-02-24T04:26:07Z</dcterms:modified>
</cp:coreProperties>
</file>